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7E4DCF4-46B5-45F0-9A4A-0652F84038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ED2778-7873-4707-8018-6A3F364FE2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A15D973-10C0-4303-BFA5-14147C30C0DA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66675" cy="6858000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3E8FF3-3FF6-4C95-8A79-93098A83EA4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231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32F52DA-797C-469B-80E9-04F8DB9EE2DC}"/>
              </a:ext>
            </a:extLst>
          </p:cNvPr>
          <p:cNvSpPr>
            <a:spLocks noGrp="1"/>
          </p:cNvSpPr>
          <p:nvPr/>
        </p:nvSpPr>
        <p:spPr>
          <a:xfrm>
            <a:off x="7829550" y="952500"/>
            <a:ext cx="3143250" cy="3143250"/>
          </a:xfrm>
          <a:prstGeom prst="ellipse">
            <a:avLst/>
          </a:prstGeom>
          <a:solidFill>
            <a:srgbClr val="0E3A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0050" y="1104900"/>
            <a:ext cx="2762250" cy="2762250"/>
          </a:xfrm>
          <a:prstGeom prst="rect">
            <a:avLst/>
          </a:prstGeom>
        </p:spPr>
      </p:pic>
      <p:sp>
        <p:nvSpPr>
          <p:cNvPr id="7" name="kicker-cover-marker">
            <a:extLst>
              <a:ext uri="{FF2B5EF4-FFF2-40B4-BE49-F238E27FC236}">
                <a16:creationId xmlns:a16="http://schemas.microsoft.com/office/drawing/2014/main" id="{719C6111-F9CB-4F28-B6CD-E931A2A8CFB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76200" cy="228600"/>
          </a:xfrm>
          <a:prstGeom prst="rect">
            <a:avLst/>
          </a:prstGeom>
          <a:solidFill>
            <a:srgbClr val="FACC15"/>
          </a:solidFill>
          <a:ln w="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kicker-cover-label">
            <a:extLst>
              <a:ext uri="{FF2B5EF4-FFF2-40B4-BE49-F238E27FC236}">
                <a16:creationId xmlns:a16="http://schemas.microsoft.com/office/drawing/2014/main" id="{89C7A67B-81F8-42CD-906B-6413F417A7C5}"/>
              </a:ext>
            </a:extLst>
          </p:cNvPr>
          <p:cNvSpPr>
            <a:spLocks noGrp="1"/>
          </p:cNvSpPr>
          <p:nvPr/>
        </p:nvSpPr>
        <p:spPr>
          <a:xfrm>
            <a:off x="800100" y="45720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CFE2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CFE2FF"/>
                </a:solidFill>
                <a:latin typeface="Yu Gothic"/>
                <a:ea typeface="Yu Gothic"/>
                <a:cs typeface="Yu Gothic"/>
              </a:rPr>
              <a:t>先着5社限定・開発パートナー募集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E8EFEB2-05D7-43E3-BFA8-CDFE93DEA54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6572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社長の時間を、</a:t>
            </a:r>
          </a:p>
          <a:p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利益に戻す。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8201CFA-B4DC-4569-97FB-124C6436F0BC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609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575" b="0" dirty="0" err="1">
                <a:solidFill>
                  <a:schemeClr val="bg1"/>
                </a:solidFill>
                <a:latin typeface="Yu Gothic"/>
                <a:ea typeface="Yu Gothic"/>
                <a:cs typeface="Yu Gothic"/>
              </a:rPr>
              <a:t>LINEで現場の「探す・まとめる・報告する」をAIへ</a:t>
            </a:r>
            <a:r>
              <a:rPr sz="1575" b="0" dirty="0">
                <a:solidFill>
                  <a:schemeClr val="bg1"/>
                </a:solidFill>
                <a:latin typeface="Yu Gothic"/>
                <a:ea typeface="Yu Gothic"/>
                <a:cs typeface="Yu Gothic"/>
              </a:rPr>
              <a:t>。</a:t>
            </a: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575" b="0" dirty="0" err="1">
                <a:solidFill>
                  <a:schemeClr val="bg1"/>
                </a:solidFill>
                <a:latin typeface="Yu Gothic"/>
                <a:ea typeface="Yu Gothic"/>
                <a:cs typeface="Yu Gothic"/>
              </a:rPr>
              <a:t>小規模工務店の情報処理を、今日の現場から軽くします</a:t>
            </a:r>
            <a:r>
              <a:rPr sz="1575" b="0" dirty="0">
                <a:solidFill>
                  <a:schemeClr val="bg1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E8D3812-19BB-4A04-A1E1-09DCDC85CA28}"/>
              </a:ext>
            </a:extLst>
          </p:cNvPr>
          <p:cNvSpPr>
            <a:spLocks noGrp="1"/>
          </p:cNvSpPr>
          <p:nvPr/>
        </p:nvSpPr>
        <p:spPr>
          <a:xfrm>
            <a:off x="628650" y="40386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ACC15"/>
                </a:solidFill>
                <a:latin typeface="Yu Gothic"/>
                <a:ea typeface="Yu Gothic"/>
                <a:cs typeface="Yu Gothic"/>
              </a:defRPr>
            </a:pPr>
            <a:r>
              <a:rPr sz="2400" b="1" dirty="0" err="1">
                <a:solidFill>
                  <a:srgbClr val="FACC15"/>
                </a:solidFill>
                <a:latin typeface="Yu Gothic"/>
                <a:ea typeface="Yu Gothic"/>
                <a:cs typeface="Yu Gothic"/>
              </a:rPr>
              <a:t>AI自動化システム『サク索くん</a:t>
            </a:r>
            <a:r>
              <a:rPr sz="2400" b="1" dirty="0">
                <a:solidFill>
                  <a:srgbClr val="FACC15"/>
                </a:solidFill>
                <a:latin typeface="Yu Gothic"/>
                <a:ea typeface="Yu Gothic"/>
                <a:cs typeface="Yu Gothic"/>
              </a:rPr>
              <a:t>』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0B79657-276F-4BD5-A48F-984CFCC13B97}"/>
              </a:ext>
            </a:extLst>
          </p:cNvPr>
          <p:cNvSpPr>
            <a:spLocks noGrp="1"/>
          </p:cNvSpPr>
          <p:nvPr/>
        </p:nvSpPr>
        <p:spPr>
          <a:xfrm>
            <a:off x="8686800" y="32385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CFE2FF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CFE2FF"/>
                </a:solidFill>
                <a:latin typeface="Yu Gothic"/>
                <a:ea typeface="Yu Gothic"/>
                <a:cs typeface="Yu Gothic"/>
              </a:rPr>
              <a:t>東京23区 小規模工務店様向け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408187D-1F9E-4BF6-868F-2934AD30026D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3105150" cy="876300"/>
          </a:xfrm>
          <a:prstGeom prst="rect">
            <a:avLst/>
          </a:prstGeom>
          <a:solidFill>
            <a:srgbClr val="123154"/>
          </a:solidFill>
          <a:ln w="9525">
            <a:solidFill>
              <a:srgbClr val="29527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616B08-E502-4FA7-A3E0-ED1F7FC61177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33h -&gt; 6h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4FC2BF5-0663-47F3-A65F-BBC7D894D267}"/>
              </a:ext>
            </a:extLst>
          </p:cNvPr>
          <p:cNvSpPr>
            <a:spLocks noGrp="1"/>
          </p:cNvSpPr>
          <p:nvPr/>
        </p:nvSpPr>
        <p:spPr>
          <a:xfrm>
            <a:off x="819150" y="57531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9C7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9C7D9"/>
                </a:solidFill>
                <a:latin typeface="Yu Gothic"/>
                <a:ea typeface="Yu Gothic"/>
                <a:cs typeface="Yu Gothic"/>
              </a:rPr>
              <a:t>月間の対象業務時間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1F6562B-5907-4D28-B7D1-EF6171094161}"/>
              </a:ext>
            </a:extLst>
          </p:cNvPr>
          <p:cNvSpPr>
            <a:spLocks noGrp="1"/>
          </p:cNvSpPr>
          <p:nvPr/>
        </p:nvSpPr>
        <p:spPr>
          <a:xfrm>
            <a:off x="3943350" y="5200650"/>
            <a:ext cx="2286000" cy="876300"/>
          </a:xfrm>
          <a:prstGeom prst="rect">
            <a:avLst/>
          </a:prstGeom>
          <a:solidFill>
            <a:srgbClr val="123154"/>
          </a:solidFill>
          <a:ln w="9525">
            <a:solidFill>
              <a:srgbClr val="29527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DB15205-FA2A-4545-BADF-5048A812649A}"/>
              </a:ext>
            </a:extLst>
          </p:cNvPr>
          <p:cNvSpPr>
            <a:spLocks noGrp="1"/>
          </p:cNvSpPr>
          <p:nvPr/>
        </p:nvSpPr>
        <p:spPr>
          <a:xfrm>
            <a:off x="4152900" y="5334000"/>
            <a:ext cx="1866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ACC15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ACC15"/>
                </a:solidFill>
                <a:latin typeface="Yu Gothic"/>
                <a:ea typeface="Yu Gothic"/>
                <a:cs typeface="Yu Gothic"/>
              </a:rPr>
              <a:t>27h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B79D77A-C9D5-4A30-9371-B222143CEBD7}"/>
              </a:ext>
            </a:extLst>
          </p:cNvPr>
          <p:cNvSpPr>
            <a:spLocks noGrp="1"/>
          </p:cNvSpPr>
          <p:nvPr/>
        </p:nvSpPr>
        <p:spPr>
          <a:xfrm>
            <a:off x="4152900" y="575310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9C7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9C7D9"/>
                </a:solidFill>
                <a:latin typeface="Yu Gothic"/>
                <a:ea typeface="Yu Gothic"/>
                <a:cs typeface="Yu Gothic"/>
              </a:rPr>
              <a:t>毎月の削減効果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3F236A9-36D9-45A5-92F2-B4E7FC32A4E9}"/>
              </a:ext>
            </a:extLst>
          </p:cNvPr>
          <p:cNvSpPr>
            <a:spLocks noGrp="1"/>
          </p:cNvSpPr>
          <p:nvPr/>
        </p:nvSpPr>
        <p:spPr>
          <a:xfrm>
            <a:off x="6457950" y="5200650"/>
            <a:ext cx="2857500" cy="876300"/>
          </a:xfrm>
          <a:prstGeom prst="rect">
            <a:avLst/>
          </a:prstGeom>
          <a:solidFill>
            <a:srgbClr val="123154"/>
          </a:solidFill>
          <a:ln w="9525">
            <a:solidFill>
              <a:srgbClr val="29527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DB5F043-E9E7-4CF2-80BC-F946C1B7239B}"/>
              </a:ext>
            </a:extLst>
          </p:cNvPr>
          <p:cNvSpPr>
            <a:spLocks noGrp="1"/>
          </p:cNvSpPr>
          <p:nvPr/>
        </p:nvSpPr>
        <p:spPr>
          <a:xfrm>
            <a:off x="6667500" y="5334000"/>
            <a:ext cx="2438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7BFFB2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7BFFB2"/>
                </a:solidFill>
                <a:latin typeface="Yu Gothic"/>
                <a:ea typeface="Yu Gothic"/>
                <a:cs typeface="Yu Gothic"/>
              </a:rPr>
              <a:t>97.2万円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5CCD236-392A-4B54-893F-F68661E13188}"/>
              </a:ext>
            </a:extLst>
          </p:cNvPr>
          <p:cNvSpPr>
            <a:spLocks noGrp="1"/>
          </p:cNvSpPr>
          <p:nvPr/>
        </p:nvSpPr>
        <p:spPr>
          <a:xfrm>
            <a:off x="6667500" y="5753100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9C7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9C7D9"/>
                </a:solidFill>
                <a:latin typeface="Yu Gothic"/>
                <a:ea typeface="Yu Gothic"/>
                <a:cs typeface="Yu Gothic"/>
              </a:rPr>
              <a:t>年間コスト削減効果</a:t>
            </a:r>
          </a:p>
        </p:txBody>
      </p:sp>
    </p:spTree>
    <p:extLst>
      <p:ext uri="{BB962C8B-B14F-4D97-AF65-F5344CB8AC3E}">
        <p14:creationId xmlns:p14="http://schemas.microsoft.com/office/powerpoint/2010/main" val="203746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0452803-0B1F-4370-B9C0-040C5D4972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906F6ABA-5BC8-4187-84D3-9049D0037DD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1DF48271-4F20-45EC-9D75-5D474BBC9AF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現場のボトルネック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87EFAA-B7B3-4A6B-87DE-8DC31104D1D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286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探す・報告・議事録が</a:t>
            </a: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、</a:t>
            </a:r>
          </a:p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毎月33時間を奪っています。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FBADFF2-53E6-42EC-A27C-9AB415486E14}"/>
              </a:ext>
            </a:extLst>
          </p:cNvPr>
          <p:cNvSpPr>
            <a:spLocks noGrp="1"/>
          </p:cNvSpPr>
          <p:nvPr/>
        </p:nvSpPr>
        <p:spPr>
          <a:xfrm>
            <a:off x="628649" y="1790700"/>
            <a:ext cx="839736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忙しさの正体は、現場そのものではなく「情報を探す・まとめる・確認する」時間です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020D37-1FD3-4934-9776-3D017ACF8C71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3762375" cy="2667000"/>
          </a:xfrm>
          <a:prstGeom prst="rect">
            <a:avLst/>
          </a:prstGeom>
          <a:solidFill>
            <a:srgbClr val="E7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A36C786-B6C6-47B1-9264-55AE2A2F017F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3143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33時間/月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A8C987F-5E0D-4BBF-A869-E583CB074FAE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2857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見積検索・日報作成・議事録作成に</a:t>
            </a:r>
          </a:p>
          <a:p>
            <a:pPr algn="l">
              <a:lnSpc>
                <a:spcPct val="115000"/>
              </a:lnSpc>
              <a:buNone/>
              <a:defRPr sz="142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社長と現場監督の時間が吸われている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14A2B20-4D87-4A4C-8A79-254887A8DA6E}"/>
              </a:ext>
            </a:extLst>
          </p:cNvPr>
          <p:cNvSpPr>
            <a:spLocks noGrp="1"/>
          </p:cNvSpPr>
          <p:nvPr/>
        </p:nvSpPr>
        <p:spPr>
          <a:xfrm>
            <a:off x="914399" y="4705349"/>
            <a:ext cx="2905125" cy="45719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BC1383-A4DF-49B0-9742-1DA99BAD434D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2905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この時間は、受注判断・職人手配・利益管理に戻せる時間です。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8B86211-0CA4-43A9-90BD-D5A960E925CC}"/>
              </a:ext>
            </a:extLst>
          </p:cNvPr>
          <p:cNvSpPr>
            <a:spLocks noGrp="1"/>
          </p:cNvSpPr>
          <p:nvPr/>
        </p:nvSpPr>
        <p:spPr>
          <a:xfrm>
            <a:off x="4895850" y="2476500"/>
            <a:ext cx="6000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53AA839-5A09-4499-B786-75C58CBACFE8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438150" cy="438150"/>
          </a:xfrm>
          <a:prstGeom prst="ellipse">
            <a:avLst/>
          </a:prstGeom>
          <a:solidFill>
            <a:srgbClr val="E7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グラフィックス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253038" y="2738438"/>
            <a:ext cx="219075" cy="219075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E04F8F4-EF09-4386-A42F-F1965A714977}"/>
              </a:ext>
            </a:extLst>
          </p:cNvPr>
          <p:cNvSpPr>
            <a:spLocks noGrp="1"/>
          </p:cNvSpPr>
          <p:nvPr/>
        </p:nvSpPr>
        <p:spPr>
          <a:xfrm>
            <a:off x="5772150" y="26193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過去の見積書が見つからない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A2915C8-AE23-409A-84FA-76821C44E3CE}"/>
              </a:ext>
            </a:extLst>
          </p:cNvPr>
          <p:cNvSpPr>
            <a:spLocks noGrp="1"/>
          </p:cNvSpPr>
          <p:nvPr/>
        </p:nvSpPr>
        <p:spPr>
          <a:xfrm>
            <a:off x="5772150" y="2905125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次の現場準備が遅れ、判断が後手に回る</a:t>
            </a:r>
          </a:p>
        </p:txBody>
      </p:sp>
      <p:pic>
        <p:nvPicPr>
          <p:cNvPr id="16" name="グラフィックス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06050" y="2733675"/>
            <a:ext cx="247650" cy="24765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200A381-53C7-4E68-A13D-CA04FE7C6399}"/>
              </a:ext>
            </a:extLst>
          </p:cNvPr>
          <p:cNvSpPr>
            <a:spLocks noGrp="1"/>
          </p:cNvSpPr>
          <p:nvPr/>
        </p:nvSpPr>
        <p:spPr>
          <a:xfrm>
            <a:off x="4895850" y="3467100"/>
            <a:ext cx="6000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59F9B5B-688A-4BAA-ADC2-08359904D7FD}"/>
              </a:ext>
            </a:extLst>
          </p:cNvPr>
          <p:cNvSpPr>
            <a:spLocks noGrp="1"/>
          </p:cNvSpPr>
          <p:nvPr/>
        </p:nvSpPr>
        <p:spPr>
          <a:xfrm>
            <a:off x="5143500" y="3619500"/>
            <a:ext cx="438150" cy="438150"/>
          </a:xfrm>
          <a:prstGeom prst="ellipse">
            <a:avLst/>
          </a:prstGeom>
          <a:solidFill>
            <a:srgbClr val="E7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グラフィックス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253038" y="3729038"/>
            <a:ext cx="219075" cy="219075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21C8B06-85E3-4B2B-8281-3DC34F84A71C}"/>
              </a:ext>
            </a:extLst>
          </p:cNvPr>
          <p:cNvSpPr>
            <a:spLocks noGrp="1"/>
          </p:cNvSpPr>
          <p:nvPr/>
        </p:nvSpPr>
        <p:spPr>
          <a:xfrm>
            <a:off x="5772150" y="36099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進捗がリアルタイムに分からない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2D86B44-0BF4-4E31-957B-28E15512A45B}"/>
              </a:ext>
            </a:extLst>
          </p:cNvPr>
          <p:cNvSpPr>
            <a:spLocks noGrp="1"/>
          </p:cNvSpPr>
          <p:nvPr/>
        </p:nvSpPr>
        <p:spPr>
          <a:xfrm>
            <a:off x="5772150" y="3895725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帰社後の確認・報告作業が増える</a:t>
            </a:r>
          </a:p>
        </p:txBody>
      </p:sp>
      <p:pic>
        <p:nvPicPr>
          <p:cNvPr id="22" name="グラフィックス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06050" y="3724275"/>
            <a:ext cx="247650" cy="247650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18AF75C-8ECA-4341-8181-E16E54D77567}"/>
              </a:ext>
            </a:extLst>
          </p:cNvPr>
          <p:cNvSpPr>
            <a:spLocks noGrp="1"/>
          </p:cNvSpPr>
          <p:nvPr/>
        </p:nvSpPr>
        <p:spPr>
          <a:xfrm>
            <a:off x="4895850" y="4457700"/>
            <a:ext cx="6000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0A1C1C9E-DD23-4672-B612-B58EB87CBEE0}"/>
              </a:ext>
            </a:extLst>
          </p:cNvPr>
          <p:cNvSpPr>
            <a:spLocks noGrp="1"/>
          </p:cNvSpPr>
          <p:nvPr/>
        </p:nvSpPr>
        <p:spPr>
          <a:xfrm>
            <a:off x="5143500" y="4610100"/>
            <a:ext cx="438150" cy="438150"/>
          </a:xfrm>
          <a:prstGeom prst="ellipse">
            <a:avLst/>
          </a:prstGeom>
          <a:solidFill>
            <a:srgbClr val="FFF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グラフィックス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253038" y="4719638"/>
            <a:ext cx="219075" cy="219075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695C2D5-8FDC-405E-A4B0-C07F0FCDB849}"/>
              </a:ext>
            </a:extLst>
          </p:cNvPr>
          <p:cNvSpPr>
            <a:spLocks noGrp="1"/>
          </p:cNvSpPr>
          <p:nvPr/>
        </p:nvSpPr>
        <p:spPr>
          <a:xfrm>
            <a:off x="5772150" y="46005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打ち合わせ内容が残らない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9974691-C533-4C22-9B22-F98EA0BA2445}"/>
              </a:ext>
            </a:extLst>
          </p:cNvPr>
          <p:cNvSpPr>
            <a:spLocks noGrp="1"/>
          </p:cNvSpPr>
          <p:nvPr/>
        </p:nvSpPr>
        <p:spPr>
          <a:xfrm>
            <a:off x="5772150" y="4886325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言った言わないが起き、信頼を削る</a:t>
            </a:r>
          </a:p>
        </p:txBody>
      </p:sp>
      <p:pic>
        <p:nvPicPr>
          <p:cNvPr id="28" name="グラフィックス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06050" y="4714875"/>
            <a:ext cx="247650" cy="247650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98D552E-599E-4070-B0EF-401D58A2962C}"/>
              </a:ext>
            </a:extLst>
          </p:cNvPr>
          <p:cNvSpPr>
            <a:spLocks noGrp="1"/>
          </p:cNvSpPr>
          <p:nvPr/>
        </p:nvSpPr>
        <p:spPr>
          <a:xfrm>
            <a:off x="4895850" y="5695950"/>
            <a:ext cx="6000750" cy="51435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6FF5E2C-DF84-4C3E-B289-D8AD56E9E43E}"/>
              </a:ext>
            </a:extLst>
          </p:cNvPr>
          <p:cNvSpPr>
            <a:spLocks noGrp="1"/>
          </p:cNvSpPr>
          <p:nvPr/>
        </p:nvSpPr>
        <p:spPr>
          <a:xfrm>
            <a:off x="5143500" y="5838825"/>
            <a:ext cx="5505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つまり、情報処理の遅れは「利益化できる時間」の漏れです。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372CAFB-4AD2-4C4E-BB26-70A6DDDB645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853D8D7-4678-46FE-AF73-839A88562C5D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809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C42BE2E-B570-40AC-9B40-7CCDA3CE76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0E3592C7-3D6E-451B-8050-F25CE2FCF3D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1555D821-5C79-4177-86CE-A4ADF76CA9B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解決アプローチ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93C785-8C00-41A9-B319-722A6547414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01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285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LINEだけで、</a:t>
            </a: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現場の情報処理を</a:t>
            </a:r>
            <a:endParaRPr sz="2850" b="1" dirty="0">
              <a:solidFill>
                <a:srgbClr val="0B1F3A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285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AI</a:t>
            </a: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へ渡せます</a:t>
            </a:r>
            <a:r>
              <a:rPr sz="285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62A7E4D-FFAB-4FE6-989D-B4E2D9698C70}"/>
              </a:ext>
            </a:extLst>
          </p:cNvPr>
          <p:cNvSpPr>
            <a:spLocks noGrp="1"/>
          </p:cNvSpPr>
          <p:nvPr/>
        </p:nvSpPr>
        <p:spPr>
          <a:xfrm>
            <a:off x="623887" y="1743075"/>
            <a:ext cx="838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新しいアプリのインストールなし。現場が普段使うLINEを入口にして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endParaRPr lang="en-US" sz="1600" b="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AIが探す・まとめる・回答するまでを受け持ちます。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63452C-D50C-45B4-8463-F825DE70862E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2190750" cy="2781300"/>
          </a:xfrm>
          <a:prstGeom prst="rect">
            <a:avLst/>
          </a:prstGeom>
          <a:solidFill>
            <a:srgbClr val="F1F7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2E0CD8-03C4-4CC9-B95A-EB9E099FB8EF}"/>
              </a:ext>
            </a:extLst>
          </p:cNvPr>
          <p:cNvSpPr>
            <a:spLocks noGrp="1"/>
          </p:cNvSpPr>
          <p:nvPr/>
        </p:nvSpPr>
        <p:spPr>
          <a:xfrm>
            <a:off x="1057275" y="2914650"/>
            <a:ext cx="163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LINE入力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A5CFC2F0-8723-4B68-80F6-0F218EF2A5DC}"/>
              </a:ext>
            </a:extLst>
          </p:cNvPr>
          <p:cNvSpPr>
            <a:spLocks noGrp="1"/>
          </p:cNvSpPr>
          <p:nvPr/>
        </p:nvSpPr>
        <p:spPr>
          <a:xfrm>
            <a:off x="1514475" y="3314700"/>
            <a:ext cx="723900" cy="7239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グラフィックス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95450" y="3495675"/>
            <a:ext cx="361950" cy="36195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3CBFFB3-DD3B-4212-9666-AFA742F12181}"/>
              </a:ext>
            </a:extLst>
          </p:cNvPr>
          <p:cNvSpPr>
            <a:spLocks noGrp="1"/>
          </p:cNvSpPr>
          <p:nvPr/>
        </p:nvSpPr>
        <p:spPr>
          <a:xfrm>
            <a:off x="1085850" y="4305300"/>
            <a:ext cx="131445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A3855B7-7BA4-404F-AC0B-632C6A02F6AA}"/>
              </a:ext>
            </a:extLst>
          </p:cNvPr>
          <p:cNvSpPr>
            <a:spLocks noGrp="1"/>
          </p:cNvSpPr>
          <p:nvPr/>
        </p:nvSpPr>
        <p:spPr>
          <a:xfrm>
            <a:off x="1200150" y="43529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写真を送る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C1FCCCC-4CF4-49DE-AEF1-93CC5BB59F73}"/>
              </a:ext>
            </a:extLst>
          </p:cNvPr>
          <p:cNvSpPr>
            <a:spLocks noGrp="1"/>
          </p:cNvSpPr>
          <p:nvPr/>
        </p:nvSpPr>
        <p:spPr>
          <a:xfrm>
            <a:off x="1085850" y="4638675"/>
            <a:ext cx="1314450" cy="228600"/>
          </a:xfrm>
          <a:prstGeom prst="rect">
            <a:avLst/>
          </a:prstGeom>
          <a:solidFill>
            <a:srgbClr val="FFF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72740AF-EDF0-40DF-B8BA-ABE7BBFBE5D4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音声を送る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856E75-C287-4AA1-A1ED-45D3D7B5ACD4}"/>
              </a:ext>
            </a:extLst>
          </p:cNvPr>
          <p:cNvSpPr>
            <a:spLocks noGrp="1"/>
          </p:cNvSpPr>
          <p:nvPr/>
        </p:nvSpPr>
        <p:spPr>
          <a:xfrm>
            <a:off x="1085850" y="4972050"/>
            <a:ext cx="131445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ADEB4A3-D5B2-4EFF-A68B-9176FF9C0ACF}"/>
              </a:ext>
            </a:extLst>
          </p:cNvPr>
          <p:cNvSpPr>
            <a:spLocks noGrp="1"/>
          </p:cNvSpPr>
          <p:nvPr/>
        </p:nvSpPr>
        <p:spPr>
          <a:xfrm>
            <a:off x="1200150" y="501967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見積を聞く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68E346E-98F4-48D2-BFB0-0A78DF66F63D}"/>
              </a:ext>
            </a:extLst>
          </p:cNvPr>
          <p:cNvSpPr>
            <a:spLocks noGrp="1"/>
          </p:cNvSpPr>
          <p:nvPr/>
        </p:nvSpPr>
        <p:spPr>
          <a:xfrm>
            <a:off x="4591050" y="2590800"/>
            <a:ext cx="3009900" cy="289560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F80E2F3-9409-42FD-9A7F-AA18EBA1BB23}"/>
              </a:ext>
            </a:extLst>
          </p:cNvPr>
          <p:cNvSpPr>
            <a:spLocks noGrp="1"/>
          </p:cNvSpPr>
          <p:nvPr/>
        </p:nvSpPr>
        <p:spPr>
          <a:xfrm>
            <a:off x="5010150" y="2933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サク索くん</a:t>
            </a:r>
            <a:endParaRPr sz="2400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E4B837A-90AF-41BF-9CB6-BB0EED26FE9E}"/>
              </a:ext>
            </a:extLst>
          </p:cNvPr>
          <p:cNvSpPr>
            <a:spLocks noGrp="1"/>
          </p:cNvSpPr>
          <p:nvPr/>
        </p:nvSpPr>
        <p:spPr>
          <a:xfrm>
            <a:off x="5105400" y="34290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現場データを読み取り、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必要な形に整えて返す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2DE0254-A1DD-42AB-A053-074EABF02D31}"/>
              </a:ext>
            </a:extLst>
          </p:cNvPr>
          <p:cNvSpPr>
            <a:spLocks noGrp="1"/>
          </p:cNvSpPr>
          <p:nvPr/>
        </p:nvSpPr>
        <p:spPr>
          <a:xfrm>
            <a:off x="4829175" y="4195763"/>
            <a:ext cx="781050" cy="323850"/>
          </a:xfrm>
          <a:prstGeom prst="rect">
            <a:avLst/>
          </a:prstGeom>
          <a:solidFill>
            <a:srgbClr val="174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87F4629-4321-43C5-AA3F-4E5B91E900AE}"/>
              </a:ext>
            </a:extLst>
          </p:cNvPr>
          <p:cNvSpPr>
            <a:spLocks noGrp="1"/>
          </p:cNvSpPr>
          <p:nvPr/>
        </p:nvSpPr>
        <p:spPr>
          <a:xfrm>
            <a:off x="4962525" y="426243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検索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B2D29EB-3889-42BF-8D68-044606280F92}"/>
              </a:ext>
            </a:extLst>
          </p:cNvPr>
          <p:cNvSpPr>
            <a:spLocks noGrp="1"/>
          </p:cNvSpPr>
          <p:nvPr/>
        </p:nvSpPr>
        <p:spPr>
          <a:xfrm>
            <a:off x="5705475" y="4195763"/>
            <a:ext cx="781050" cy="323850"/>
          </a:xfrm>
          <a:prstGeom prst="rect">
            <a:avLst/>
          </a:prstGeom>
          <a:solidFill>
            <a:srgbClr val="174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EFB476B-0A1F-4E04-B6A6-1ABBA8906DF6}"/>
              </a:ext>
            </a:extLst>
          </p:cNvPr>
          <p:cNvSpPr>
            <a:spLocks noGrp="1"/>
          </p:cNvSpPr>
          <p:nvPr/>
        </p:nvSpPr>
        <p:spPr>
          <a:xfrm>
            <a:off x="5838825" y="426243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判別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C860DE9-B499-4794-A5B6-95736FEB5A48}"/>
              </a:ext>
            </a:extLst>
          </p:cNvPr>
          <p:cNvSpPr>
            <a:spLocks noGrp="1"/>
          </p:cNvSpPr>
          <p:nvPr/>
        </p:nvSpPr>
        <p:spPr>
          <a:xfrm>
            <a:off x="6581775" y="4195763"/>
            <a:ext cx="781050" cy="323850"/>
          </a:xfrm>
          <a:prstGeom prst="rect">
            <a:avLst/>
          </a:prstGeom>
          <a:solidFill>
            <a:srgbClr val="174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F1AD95D-7F1D-449A-B1CC-E1BD181CAE66}"/>
              </a:ext>
            </a:extLst>
          </p:cNvPr>
          <p:cNvSpPr>
            <a:spLocks noGrp="1"/>
          </p:cNvSpPr>
          <p:nvPr/>
        </p:nvSpPr>
        <p:spPr>
          <a:xfrm>
            <a:off x="6715125" y="426243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要約</a:t>
            </a: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1AB60D1B-0EF0-4EE1-9920-77E667D73AC0}"/>
              </a:ext>
            </a:extLst>
          </p:cNvPr>
          <p:cNvSpPr>
            <a:spLocks noGrp="1"/>
          </p:cNvSpPr>
          <p:nvPr/>
        </p:nvSpPr>
        <p:spPr>
          <a:xfrm>
            <a:off x="5810250" y="4686300"/>
            <a:ext cx="590550" cy="590550"/>
          </a:xfrm>
          <a:prstGeom prst="ellipse">
            <a:avLst/>
          </a:prstGeom>
          <a:solidFill>
            <a:srgbClr val="174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グラフィックス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57888" y="4833938"/>
            <a:ext cx="295275" cy="295275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B71EC0C-B353-4CD2-97B0-B12106077CB0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2001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2" name="グラフィックス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67875" y="3000375"/>
            <a:ext cx="266700" cy="266700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2320C39-84D5-41BF-BF84-0FA48EF24B3E}"/>
              </a:ext>
            </a:extLst>
          </p:cNvPr>
          <p:cNvSpPr>
            <a:spLocks noGrp="1"/>
          </p:cNvSpPr>
          <p:nvPr/>
        </p:nvSpPr>
        <p:spPr>
          <a:xfrm>
            <a:off x="9315450" y="333375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見積回答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1B7E9C6-E6A9-4238-8D5E-D3FE1F758EA1}"/>
              </a:ext>
            </a:extLst>
          </p:cNvPr>
          <p:cNvSpPr>
            <a:spLocks noGrp="1"/>
          </p:cNvSpPr>
          <p:nvPr/>
        </p:nvSpPr>
        <p:spPr>
          <a:xfrm>
            <a:off x="9296400" y="3600450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過去書類から即答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582952B-451A-4F47-8FC8-45100CC744B5}"/>
              </a:ext>
            </a:extLst>
          </p:cNvPr>
          <p:cNvSpPr>
            <a:spLocks noGrp="1"/>
          </p:cNvSpPr>
          <p:nvPr/>
        </p:nvSpPr>
        <p:spPr>
          <a:xfrm>
            <a:off x="10553700" y="2857500"/>
            <a:ext cx="12001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グラフィックス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020425" y="3000375"/>
            <a:ext cx="266700" cy="266700"/>
          </a:xfrm>
          <a:prstGeom prst="rect">
            <a:avLst/>
          </a:prstGeom>
        </p:spPr>
      </p:pic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0E0E151-F089-49E3-A0B5-1F6D7CB6133B}"/>
              </a:ext>
            </a:extLst>
          </p:cNvPr>
          <p:cNvSpPr>
            <a:spLocks noGrp="1"/>
          </p:cNvSpPr>
          <p:nvPr/>
        </p:nvSpPr>
        <p:spPr>
          <a:xfrm>
            <a:off x="10668000" y="333375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日報作成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BB9FC57-40A1-4A6F-9407-1FF09FCCC11A}"/>
              </a:ext>
            </a:extLst>
          </p:cNvPr>
          <p:cNvSpPr>
            <a:spLocks noGrp="1"/>
          </p:cNvSpPr>
          <p:nvPr/>
        </p:nvSpPr>
        <p:spPr>
          <a:xfrm>
            <a:off x="10648950" y="3600450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写真から自動組立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51F14FE-5136-4E32-AA33-C64CF7ACA3F9}"/>
              </a:ext>
            </a:extLst>
          </p:cNvPr>
          <p:cNvSpPr>
            <a:spLocks noGrp="1"/>
          </p:cNvSpPr>
          <p:nvPr/>
        </p:nvSpPr>
        <p:spPr>
          <a:xfrm>
            <a:off x="9201150" y="4076700"/>
            <a:ext cx="12001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0" name="グラフィックス 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667875" y="4219575"/>
            <a:ext cx="266700" cy="266700"/>
          </a:xfrm>
          <a:prstGeom prst="rect">
            <a:avLst/>
          </a:prstGeom>
        </p:spPr>
      </p:pic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7593D9C-588D-4FB9-9623-7C86126FB275}"/>
              </a:ext>
            </a:extLst>
          </p:cNvPr>
          <p:cNvSpPr>
            <a:spLocks noGrp="1"/>
          </p:cNvSpPr>
          <p:nvPr/>
        </p:nvSpPr>
        <p:spPr>
          <a:xfrm>
            <a:off x="9315450" y="455295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議事録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5BCCFAA-ECDE-4D09-A7CB-19FF08426A03}"/>
              </a:ext>
            </a:extLst>
          </p:cNvPr>
          <p:cNvSpPr>
            <a:spLocks noGrp="1"/>
          </p:cNvSpPr>
          <p:nvPr/>
        </p:nvSpPr>
        <p:spPr>
          <a:xfrm>
            <a:off x="9296400" y="4819650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録音から要点化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37BBDBD-365E-4B75-A684-8849CDD7F225}"/>
              </a:ext>
            </a:extLst>
          </p:cNvPr>
          <p:cNvSpPr>
            <a:spLocks noGrp="1"/>
          </p:cNvSpPr>
          <p:nvPr/>
        </p:nvSpPr>
        <p:spPr>
          <a:xfrm>
            <a:off x="10553700" y="4076700"/>
            <a:ext cx="12001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4" name="グラフィックス 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1020425" y="4219575"/>
            <a:ext cx="266700" cy="266700"/>
          </a:xfrm>
          <a:prstGeom prst="rect">
            <a:avLst/>
          </a:prstGeom>
        </p:spPr>
      </p:pic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6032F8B-AD82-4D81-A617-4651820DCD1A}"/>
              </a:ext>
            </a:extLst>
          </p:cNvPr>
          <p:cNvSpPr>
            <a:spLocks noGrp="1"/>
          </p:cNvSpPr>
          <p:nvPr/>
        </p:nvSpPr>
        <p:spPr>
          <a:xfrm>
            <a:off x="10668000" y="455295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FAQ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EEA8791-63CD-48C9-8492-BC6CA9ECCE43}"/>
              </a:ext>
            </a:extLst>
          </p:cNvPr>
          <p:cNvSpPr>
            <a:spLocks noGrp="1"/>
          </p:cNvSpPr>
          <p:nvPr/>
        </p:nvSpPr>
        <p:spPr>
          <a:xfrm>
            <a:off x="10648950" y="4819650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8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よくある質問に回答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BB34F7F-F68F-4F2E-A36F-205F6AE42B01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9620250" cy="1905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B3EC620-8994-44C0-9C0F-F1B2FD1113B7}"/>
              </a:ext>
            </a:extLst>
          </p:cNvPr>
          <p:cNvSpPr>
            <a:spLocks noGrp="1"/>
          </p:cNvSpPr>
          <p:nvPr/>
        </p:nvSpPr>
        <p:spPr>
          <a:xfrm>
            <a:off x="3295650" y="6043613"/>
            <a:ext cx="1619250" cy="323850"/>
          </a:xfrm>
          <a:prstGeom prst="rect">
            <a:avLst/>
          </a:prstGeom>
          <a:solidFill>
            <a:srgbClr val="E7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7F05BCB-6FA7-4CAF-A125-C81DAD8E4BEC}"/>
              </a:ext>
            </a:extLst>
          </p:cNvPr>
          <p:cNvSpPr>
            <a:spLocks noGrp="1"/>
          </p:cNvSpPr>
          <p:nvPr/>
        </p:nvSpPr>
        <p:spPr>
          <a:xfrm>
            <a:off x="3429000" y="6110288"/>
            <a:ext cx="1352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新規アプリ不要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6F83CEB9-FBEB-4BEB-A92A-0CD212027E46}"/>
              </a:ext>
            </a:extLst>
          </p:cNvPr>
          <p:cNvSpPr>
            <a:spLocks noGrp="1"/>
          </p:cNvSpPr>
          <p:nvPr/>
        </p:nvSpPr>
        <p:spPr>
          <a:xfrm>
            <a:off x="5219700" y="6043613"/>
            <a:ext cx="1428750" cy="323850"/>
          </a:xfrm>
          <a:prstGeom prst="rect">
            <a:avLst/>
          </a:prstGeom>
          <a:solidFill>
            <a:srgbClr val="EA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8A7521AD-F9C4-440A-B847-BAB8C34503A1}"/>
              </a:ext>
            </a:extLst>
          </p:cNvPr>
          <p:cNvSpPr>
            <a:spLocks noGrp="1"/>
          </p:cNvSpPr>
          <p:nvPr/>
        </p:nvSpPr>
        <p:spPr>
          <a:xfrm>
            <a:off x="5353050" y="6110288"/>
            <a:ext cx="1162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6A34A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16A34A"/>
                </a:solidFill>
                <a:latin typeface="Yu Gothic"/>
                <a:ea typeface="Yu Gothic"/>
                <a:cs typeface="Yu Gothic"/>
              </a:rPr>
              <a:t>LINEで完結</a:t>
            </a:r>
            <a:endParaRPr sz="1200" b="1" dirty="0">
              <a:solidFill>
                <a:srgbClr val="16A34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8C8CFE7E-4D37-4CD1-BDD7-78A3354B0AAA}"/>
              </a:ext>
            </a:extLst>
          </p:cNvPr>
          <p:cNvSpPr>
            <a:spLocks noGrp="1"/>
          </p:cNvSpPr>
          <p:nvPr/>
        </p:nvSpPr>
        <p:spPr>
          <a:xfrm>
            <a:off x="6972300" y="6043613"/>
            <a:ext cx="2247900" cy="323850"/>
          </a:xfrm>
          <a:prstGeom prst="rect">
            <a:avLst/>
          </a:prstGeom>
          <a:solidFill>
            <a:srgbClr val="FFF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C0405A4B-92F4-4B26-A0BD-4BE2A0D32D73}"/>
              </a:ext>
            </a:extLst>
          </p:cNvPr>
          <p:cNvSpPr>
            <a:spLocks noGrp="1"/>
          </p:cNvSpPr>
          <p:nvPr/>
        </p:nvSpPr>
        <p:spPr>
          <a:xfrm>
            <a:off x="7105650" y="6110288"/>
            <a:ext cx="1981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7900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B77900"/>
                </a:solidFill>
                <a:latin typeface="Yu Gothic"/>
                <a:ea typeface="Yu Gothic"/>
                <a:cs typeface="Yu Gothic"/>
              </a:rPr>
              <a:t>ITが苦手でも始めやすい</a:t>
            </a:r>
            <a:endParaRPr sz="1200" b="1" dirty="0">
              <a:solidFill>
                <a:srgbClr val="B7790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889355F-88C6-425E-8A70-27C4E2F4432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1F20CBC-CB3A-4FA9-916E-7AA0C5EC40FF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A237F452-506B-15BB-ECC2-B514813C5DB4}"/>
              </a:ext>
            </a:extLst>
          </p:cNvPr>
          <p:cNvCxnSpPr/>
          <p:nvPr/>
        </p:nvCxnSpPr>
        <p:spPr>
          <a:xfrm>
            <a:off x="3184086" y="3981450"/>
            <a:ext cx="113752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A54603C2-C1F9-7E5F-CABB-A1994336015E}"/>
              </a:ext>
            </a:extLst>
          </p:cNvPr>
          <p:cNvCxnSpPr/>
          <p:nvPr/>
        </p:nvCxnSpPr>
        <p:spPr>
          <a:xfrm>
            <a:off x="7868359" y="3981450"/>
            <a:ext cx="1137528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78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32466AA-4C67-487D-8002-CD656FB6D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BBA8C214-0329-40A6-BEAC-FAF4FD3BFB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5A0566B4-01F5-4CB9-87F5-D5FF2F3B89E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コア機能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967173-E026-492A-9CD2-EE154564916F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572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まず効くのは、</a:t>
            </a:r>
            <a:r>
              <a:rPr sz="36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現場の</a:t>
            </a: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4つの入口です。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9CDDC50-F336-4AB7-81F2-41F28126A0B6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570292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単なる機能一覧ではなく、社長が気にする</a:t>
            </a:r>
            <a:endParaRPr lang="en-US" sz="1600" b="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「</a:t>
            </a: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判断が早くなる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」「</a:t>
            </a: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帰社後作業が減る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」「</a:t>
            </a: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トラブルが減る」に直結させます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A2544FD-067C-4F1A-B6B3-14EA82E39A33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4800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BEF146-1ADF-40AD-AF33-181D129839A9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76200" cy="135255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グラフィックス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28700" y="2628900"/>
            <a:ext cx="342900" cy="3429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708545-481E-4B75-B3FB-51F8BDCFA725}"/>
              </a:ext>
            </a:extLst>
          </p:cNvPr>
          <p:cNvSpPr>
            <a:spLocks noGrp="1"/>
          </p:cNvSpPr>
          <p:nvPr/>
        </p:nvSpPr>
        <p:spPr>
          <a:xfrm>
            <a:off x="1543050" y="2571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見積検索AI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BF0E592-CE6B-4704-8991-E98558A3224C}"/>
              </a:ext>
            </a:extLst>
          </p:cNvPr>
          <p:cNvSpPr>
            <a:spLocks noGrp="1"/>
          </p:cNvSpPr>
          <p:nvPr/>
        </p:nvSpPr>
        <p:spPr>
          <a:xfrm>
            <a:off x="1543050" y="2943225"/>
            <a:ext cx="3333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LINEで「〇〇邸の足場代いくら</a:t>
            </a:r>
            <a:r>
              <a:rPr sz="1400" b="1" dirty="0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？」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9D4101A-BE30-446C-8716-FD49C5ED34EE}"/>
              </a:ext>
            </a:extLst>
          </p:cNvPr>
          <p:cNvSpPr>
            <a:spLocks noGrp="1"/>
          </p:cNvSpPr>
          <p:nvPr/>
        </p:nvSpPr>
        <p:spPr>
          <a:xfrm>
            <a:off x="1543050" y="320040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過去書類から1秒で回答し、現場判断を早める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4E89CFF-F334-4A41-BB52-7D6051404DBD}"/>
              </a:ext>
            </a:extLst>
          </p:cNvPr>
          <p:cNvSpPr>
            <a:spLocks noGrp="1"/>
          </p:cNvSpPr>
          <p:nvPr/>
        </p:nvSpPr>
        <p:spPr>
          <a:xfrm>
            <a:off x="6038850" y="2324100"/>
            <a:ext cx="4800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37667B-C064-4EE0-B357-802E5C531FEC}"/>
              </a:ext>
            </a:extLst>
          </p:cNvPr>
          <p:cNvSpPr>
            <a:spLocks noGrp="1"/>
          </p:cNvSpPr>
          <p:nvPr/>
        </p:nvSpPr>
        <p:spPr>
          <a:xfrm>
            <a:off x="6038850" y="2324100"/>
            <a:ext cx="76200" cy="13525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グラフィックス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62700" y="2628900"/>
            <a:ext cx="342900" cy="34290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2ACAFA-9540-480C-B949-8858F4A27FBF}"/>
              </a:ext>
            </a:extLst>
          </p:cNvPr>
          <p:cNvSpPr>
            <a:spLocks noGrp="1"/>
          </p:cNvSpPr>
          <p:nvPr/>
        </p:nvSpPr>
        <p:spPr>
          <a:xfrm>
            <a:off x="6877050" y="2571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写真日報AI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30AF6C-4DAA-4B11-B878-9C758AB58C58}"/>
              </a:ext>
            </a:extLst>
          </p:cNvPr>
          <p:cNvSpPr>
            <a:spLocks noGrp="1"/>
          </p:cNvSpPr>
          <p:nvPr/>
        </p:nvSpPr>
        <p:spPr>
          <a:xfrm>
            <a:off x="6877050" y="2943225"/>
            <a:ext cx="3333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A34A"/>
                </a:solidFill>
                <a:latin typeface="Yu Gothic"/>
                <a:ea typeface="Yu Gothic"/>
                <a:cs typeface="Yu Gothic"/>
              </a:defRPr>
            </a:pPr>
            <a:r>
              <a:rPr sz="1400" b="1">
                <a:solidFill>
                  <a:srgbClr val="16A34A"/>
                </a:solidFill>
                <a:latin typeface="Yu Gothic"/>
                <a:ea typeface="Yu Gothic"/>
                <a:cs typeface="Yu Gothic"/>
              </a:rPr>
              <a:t>現場写真を送るだけ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BE411D1-4C2E-40C6-BBC3-D7741CCD9479}"/>
              </a:ext>
            </a:extLst>
          </p:cNvPr>
          <p:cNvSpPr>
            <a:spLocks noGrp="1"/>
          </p:cNvSpPr>
          <p:nvPr/>
        </p:nvSpPr>
        <p:spPr>
          <a:xfrm>
            <a:off x="6877050" y="320040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内容を判別し、帰社後の日報作成を大幅に削減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7E6351B-3C8A-44C3-93D4-B7C6BF558683}"/>
              </a:ext>
            </a:extLst>
          </p:cNvPr>
          <p:cNvSpPr>
            <a:spLocks noGrp="1"/>
          </p:cNvSpPr>
          <p:nvPr/>
        </p:nvSpPr>
        <p:spPr>
          <a:xfrm>
            <a:off x="704850" y="3981450"/>
            <a:ext cx="4800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4819CB1-BAE9-4D1F-8C99-9E8983700BB4}"/>
              </a:ext>
            </a:extLst>
          </p:cNvPr>
          <p:cNvSpPr>
            <a:spLocks noGrp="1"/>
          </p:cNvSpPr>
          <p:nvPr/>
        </p:nvSpPr>
        <p:spPr>
          <a:xfrm>
            <a:off x="704850" y="3981450"/>
            <a:ext cx="76200" cy="1352550"/>
          </a:xfrm>
          <a:prstGeom prst="rect">
            <a:avLst/>
          </a:prstGeom>
          <a:solidFill>
            <a:srgbClr val="B77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グラフィックス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8700" y="4286250"/>
            <a:ext cx="342900" cy="342900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3318196-E4C9-4566-AC41-31A61198C813}"/>
              </a:ext>
            </a:extLst>
          </p:cNvPr>
          <p:cNvSpPr>
            <a:spLocks noGrp="1"/>
          </p:cNvSpPr>
          <p:nvPr/>
        </p:nvSpPr>
        <p:spPr>
          <a:xfrm>
            <a:off x="1543050" y="4229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音声議事録AI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507B3E4-7058-42BD-A109-05ACB2F6143A}"/>
              </a:ext>
            </a:extLst>
          </p:cNvPr>
          <p:cNvSpPr>
            <a:spLocks noGrp="1"/>
          </p:cNvSpPr>
          <p:nvPr/>
        </p:nvSpPr>
        <p:spPr>
          <a:xfrm>
            <a:off x="1543050" y="4600575"/>
            <a:ext cx="3333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77900"/>
                </a:solidFill>
                <a:latin typeface="Yu Gothic"/>
                <a:ea typeface="Yu Gothic"/>
                <a:cs typeface="Yu Gothic"/>
              </a:defRPr>
            </a:pPr>
            <a:r>
              <a:rPr sz="1400" b="1">
                <a:solidFill>
                  <a:srgbClr val="B77900"/>
                </a:solidFill>
                <a:latin typeface="Yu Gothic"/>
                <a:ea typeface="Yu Gothic"/>
                <a:cs typeface="Yu Gothic"/>
              </a:rPr>
              <a:t>打ち合わせ録音を送るだけ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1E1739E-8ECD-4FBE-A4C2-40A95C180587}"/>
              </a:ext>
            </a:extLst>
          </p:cNvPr>
          <p:cNvSpPr>
            <a:spLocks noGrp="1"/>
          </p:cNvSpPr>
          <p:nvPr/>
        </p:nvSpPr>
        <p:spPr>
          <a:xfrm>
            <a:off x="1543050" y="485775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要点を残し、言った言わないのリスクを抑える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1B3F514-EA00-4692-8E06-F1044A039087}"/>
              </a:ext>
            </a:extLst>
          </p:cNvPr>
          <p:cNvSpPr>
            <a:spLocks noGrp="1"/>
          </p:cNvSpPr>
          <p:nvPr/>
        </p:nvSpPr>
        <p:spPr>
          <a:xfrm>
            <a:off x="6038850" y="3981450"/>
            <a:ext cx="4800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0C03CAB-0EEC-490D-B593-32EC8B9FB08E}"/>
              </a:ext>
            </a:extLst>
          </p:cNvPr>
          <p:cNvSpPr>
            <a:spLocks noGrp="1"/>
          </p:cNvSpPr>
          <p:nvPr/>
        </p:nvSpPr>
        <p:spPr>
          <a:xfrm>
            <a:off x="6038850" y="3981450"/>
            <a:ext cx="76200" cy="135255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6" name="グラフィックス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62700" y="4286250"/>
            <a:ext cx="342900" cy="342900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425C4A8-00C8-4DC2-8C03-DACEB1CEB08E}"/>
              </a:ext>
            </a:extLst>
          </p:cNvPr>
          <p:cNvSpPr>
            <a:spLocks noGrp="1"/>
          </p:cNvSpPr>
          <p:nvPr/>
        </p:nvSpPr>
        <p:spPr>
          <a:xfrm>
            <a:off x="6877050" y="4229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質問・FAQ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35EDF68-8BBE-498B-A377-A0BE3F506D47}"/>
              </a:ext>
            </a:extLst>
          </p:cNvPr>
          <p:cNvSpPr>
            <a:spLocks noGrp="1"/>
          </p:cNvSpPr>
          <p:nvPr/>
        </p:nvSpPr>
        <p:spPr>
          <a:xfrm>
            <a:off x="6877050" y="4600575"/>
            <a:ext cx="3333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400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現場のよくある質問をLINEで確認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94647C7-666A-42E8-B129-FDB62A9B4E63}"/>
              </a:ext>
            </a:extLst>
          </p:cNvPr>
          <p:cNvSpPr>
            <a:spLocks noGrp="1"/>
          </p:cNvSpPr>
          <p:nvPr/>
        </p:nvSpPr>
        <p:spPr>
          <a:xfrm>
            <a:off x="6877050" y="485775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確認待ちを減らし、社内の知識を使いやすくする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912247F-D555-4AEE-8684-A85EB8044BB3}"/>
              </a:ext>
            </a:extLst>
          </p:cNvPr>
          <p:cNvSpPr>
            <a:spLocks noGrp="1"/>
          </p:cNvSpPr>
          <p:nvPr/>
        </p:nvSpPr>
        <p:spPr>
          <a:xfrm>
            <a:off x="704850" y="5753100"/>
            <a:ext cx="10134600" cy="45720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997C94F-D76F-4B36-B592-9BE4A570970A}"/>
              </a:ext>
            </a:extLst>
          </p:cNvPr>
          <p:cNvSpPr>
            <a:spLocks noGrp="1"/>
          </p:cNvSpPr>
          <p:nvPr/>
        </p:nvSpPr>
        <p:spPr>
          <a:xfrm>
            <a:off x="1028700" y="5848350"/>
            <a:ext cx="9552039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入口はLINE。裏側はAI。現場には「いつもの操作」だけを残します</a:t>
            </a:r>
            <a:r>
              <a:rPr sz="20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3CE6777-48DD-4F4E-9034-9456E126771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B14BE7B-5656-4101-AD67-2F246B707B52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37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8EE89122-63B1-41D7-B88F-0AC8796862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17550355-98BC-4445-83F6-F878F4711B7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20F5C8F2-C051-4E82-96AC-32D53500DDB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投資対効果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AB0145-C4B7-42B0-AA11-9F5F4CE3854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月27時間、年間97.2万円の</a:t>
            </a:r>
          </a:p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余力をつくります</a:t>
            </a: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F9235E5-BE48-412E-99DC-EFBEB5DA4D36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23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時給3,000円換算。対象業務を33時間/月から6時間/</a:t>
            </a: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月へ圧縮する前提です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D35BF7-4A41-4A19-8386-24CC126D0BDB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6858000" cy="302895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63335B8-D2E7-45E9-A0AF-ADE6F1C528D1}"/>
              </a:ext>
            </a:extLst>
          </p:cNvPr>
          <p:cNvSpPr>
            <a:spLocks noGrp="1"/>
          </p:cNvSpPr>
          <p:nvPr/>
        </p:nvSpPr>
        <p:spPr>
          <a:xfrm>
            <a:off x="3165960" y="27051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現</a:t>
            </a:r>
            <a:r>
              <a:rPr lang="ja-JP" altLang="en-US" sz="1200" b="1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sz="1200" b="1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状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E0F45CA-8EBA-4365-BD18-5C6A5D81B8EB}"/>
              </a:ext>
            </a:extLst>
          </p:cNvPr>
          <p:cNvSpPr>
            <a:spLocks noGrp="1"/>
          </p:cNvSpPr>
          <p:nvPr/>
        </p:nvSpPr>
        <p:spPr>
          <a:xfrm>
            <a:off x="6124575" y="27051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導入後</a:t>
            </a:r>
            <a:endParaRPr sz="1200" b="1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E23AC-8F88-4467-80B1-51C1E1E79EFF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見積検索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6E841B9-8DAB-4509-AC5A-5E188F96D98F}"/>
              </a:ext>
            </a:extLst>
          </p:cNvPr>
          <p:cNvSpPr>
            <a:spLocks noGrp="1"/>
          </p:cNvSpPr>
          <p:nvPr/>
        </p:nvSpPr>
        <p:spPr>
          <a:xfrm>
            <a:off x="2133600" y="3124200"/>
            <a:ext cx="295275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D4DCB81-28E2-40AD-80D5-209F5DCD49B9}"/>
              </a:ext>
            </a:extLst>
          </p:cNvPr>
          <p:cNvSpPr>
            <a:spLocks noGrp="1"/>
          </p:cNvSpPr>
          <p:nvPr/>
        </p:nvSpPr>
        <p:spPr>
          <a:xfrm>
            <a:off x="2133600" y="3124200"/>
            <a:ext cx="894773" cy="152400"/>
          </a:xfrm>
          <a:prstGeom prst="rect">
            <a:avLst/>
          </a:prstGeom>
          <a:solidFill>
            <a:srgbClr val="3A8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3E92C64-5F4D-4410-A605-604E301F3553}"/>
              </a:ext>
            </a:extLst>
          </p:cNvPr>
          <p:cNvSpPr>
            <a:spLocks noGrp="1"/>
          </p:cNvSpPr>
          <p:nvPr/>
        </p:nvSpPr>
        <p:spPr>
          <a:xfrm>
            <a:off x="5181600" y="307657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10h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C1D6A60-0C85-49AF-B57E-9329A6E4EA6F}"/>
              </a:ext>
            </a:extLst>
          </p:cNvPr>
          <p:cNvSpPr>
            <a:spLocks noGrp="1"/>
          </p:cNvSpPr>
          <p:nvPr/>
        </p:nvSpPr>
        <p:spPr>
          <a:xfrm>
            <a:off x="5829300" y="3124200"/>
            <a:ext cx="125730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B087142-4F6D-45BA-A1EA-24F6A47FCFDF}"/>
              </a:ext>
            </a:extLst>
          </p:cNvPr>
          <p:cNvSpPr>
            <a:spLocks noGrp="1"/>
          </p:cNvSpPr>
          <p:nvPr/>
        </p:nvSpPr>
        <p:spPr>
          <a:xfrm>
            <a:off x="5829300" y="3124200"/>
            <a:ext cx="89477" cy="152400"/>
          </a:xfrm>
          <a:prstGeom prst="rect">
            <a:avLst/>
          </a:prstGeom>
          <a:solidFill>
            <a:srgbClr val="62C8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1A04122-427B-4844-8FD7-00CC2B51AFC2}"/>
              </a:ext>
            </a:extLst>
          </p:cNvPr>
          <p:cNvSpPr>
            <a:spLocks noGrp="1"/>
          </p:cNvSpPr>
          <p:nvPr/>
        </p:nvSpPr>
        <p:spPr>
          <a:xfrm>
            <a:off x="7067550" y="3076575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1h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9F7C7D5-F093-4825-B4B0-E6CE0723266D}"/>
              </a:ext>
            </a:extLst>
          </p:cNvPr>
          <p:cNvSpPr>
            <a:spLocks noGrp="1"/>
          </p:cNvSpPr>
          <p:nvPr/>
        </p:nvSpPr>
        <p:spPr>
          <a:xfrm>
            <a:off x="7677150" y="3067050"/>
            <a:ext cx="533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-9h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9712E82-CA88-47A3-A0F2-CBE45E039A35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日報作成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C2DD1F7-36F7-4474-AC03-8B404CFD9E10}"/>
              </a:ext>
            </a:extLst>
          </p:cNvPr>
          <p:cNvSpPr>
            <a:spLocks noGrp="1"/>
          </p:cNvSpPr>
          <p:nvPr/>
        </p:nvSpPr>
        <p:spPr>
          <a:xfrm>
            <a:off x="2133600" y="3676650"/>
            <a:ext cx="295275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C5277CE-898A-4799-8956-DEBA552A1A75}"/>
              </a:ext>
            </a:extLst>
          </p:cNvPr>
          <p:cNvSpPr>
            <a:spLocks noGrp="1"/>
          </p:cNvSpPr>
          <p:nvPr/>
        </p:nvSpPr>
        <p:spPr>
          <a:xfrm>
            <a:off x="2133600" y="3676650"/>
            <a:ext cx="1342159" cy="152400"/>
          </a:xfrm>
          <a:prstGeom prst="rect">
            <a:avLst/>
          </a:prstGeom>
          <a:solidFill>
            <a:srgbClr val="3A8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0F6575A-FF12-4A25-9BC5-3E77D04F5C22}"/>
              </a:ext>
            </a:extLst>
          </p:cNvPr>
          <p:cNvSpPr>
            <a:spLocks noGrp="1"/>
          </p:cNvSpPr>
          <p:nvPr/>
        </p:nvSpPr>
        <p:spPr>
          <a:xfrm>
            <a:off x="5181600" y="36290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15h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680872B-4B73-4242-98A3-3CD087140885}"/>
              </a:ext>
            </a:extLst>
          </p:cNvPr>
          <p:cNvSpPr>
            <a:spLocks noGrp="1"/>
          </p:cNvSpPr>
          <p:nvPr/>
        </p:nvSpPr>
        <p:spPr>
          <a:xfrm>
            <a:off x="5829300" y="3676650"/>
            <a:ext cx="125730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E9A0FB8-DACE-4EB4-9737-FBC5E75B1976}"/>
              </a:ext>
            </a:extLst>
          </p:cNvPr>
          <p:cNvSpPr>
            <a:spLocks noGrp="1"/>
          </p:cNvSpPr>
          <p:nvPr/>
        </p:nvSpPr>
        <p:spPr>
          <a:xfrm>
            <a:off x="5829300" y="3676650"/>
            <a:ext cx="268432" cy="152400"/>
          </a:xfrm>
          <a:prstGeom prst="rect">
            <a:avLst/>
          </a:prstGeom>
          <a:solidFill>
            <a:srgbClr val="62C8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120E805-EAB5-4CD8-A247-1130AFF6906A}"/>
              </a:ext>
            </a:extLst>
          </p:cNvPr>
          <p:cNvSpPr>
            <a:spLocks noGrp="1"/>
          </p:cNvSpPr>
          <p:nvPr/>
        </p:nvSpPr>
        <p:spPr>
          <a:xfrm>
            <a:off x="7067550" y="3629025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3h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1303BF3-B367-418B-B156-8DEFA326A52B}"/>
              </a:ext>
            </a:extLst>
          </p:cNvPr>
          <p:cNvSpPr>
            <a:spLocks noGrp="1"/>
          </p:cNvSpPr>
          <p:nvPr/>
        </p:nvSpPr>
        <p:spPr>
          <a:xfrm>
            <a:off x="7677150" y="3619500"/>
            <a:ext cx="533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-12h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B5F03F8-812E-40EA-9796-86C8FAF5B6EA}"/>
              </a:ext>
            </a:extLst>
          </p:cNvPr>
          <p:cNvSpPr>
            <a:spLocks noGrp="1"/>
          </p:cNvSpPr>
          <p:nvPr/>
        </p:nvSpPr>
        <p:spPr>
          <a:xfrm>
            <a:off x="914400" y="41719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議事録作成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E4C5AB0-6C83-4A2A-9084-9BAC8C9C547B}"/>
              </a:ext>
            </a:extLst>
          </p:cNvPr>
          <p:cNvSpPr>
            <a:spLocks noGrp="1"/>
          </p:cNvSpPr>
          <p:nvPr/>
        </p:nvSpPr>
        <p:spPr>
          <a:xfrm>
            <a:off x="2133600" y="4229100"/>
            <a:ext cx="295275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5953884-3029-4494-BF90-75618DC288AE}"/>
              </a:ext>
            </a:extLst>
          </p:cNvPr>
          <p:cNvSpPr>
            <a:spLocks noGrp="1"/>
          </p:cNvSpPr>
          <p:nvPr/>
        </p:nvSpPr>
        <p:spPr>
          <a:xfrm>
            <a:off x="2133600" y="4229100"/>
            <a:ext cx="715818" cy="152400"/>
          </a:xfrm>
          <a:prstGeom prst="rect">
            <a:avLst/>
          </a:prstGeom>
          <a:solidFill>
            <a:srgbClr val="3A8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4A2F448-3EA0-4DD5-B9CB-EDF59162C072}"/>
              </a:ext>
            </a:extLst>
          </p:cNvPr>
          <p:cNvSpPr>
            <a:spLocks noGrp="1"/>
          </p:cNvSpPr>
          <p:nvPr/>
        </p:nvSpPr>
        <p:spPr>
          <a:xfrm>
            <a:off x="5181600" y="418147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8h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17A0094-CA3A-4DDA-8034-5C5C7FEE5F06}"/>
              </a:ext>
            </a:extLst>
          </p:cNvPr>
          <p:cNvSpPr>
            <a:spLocks noGrp="1"/>
          </p:cNvSpPr>
          <p:nvPr/>
        </p:nvSpPr>
        <p:spPr>
          <a:xfrm>
            <a:off x="5829300" y="4229100"/>
            <a:ext cx="125730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D13906D-5E98-408F-BDC8-68A56F391089}"/>
              </a:ext>
            </a:extLst>
          </p:cNvPr>
          <p:cNvSpPr>
            <a:spLocks noGrp="1"/>
          </p:cNvSpPr>
          <p:nvPr/>
        </p:nvSpPr>
        <p:spPr>
          <a:xfrm>
            <a:off x="5829300" y="4229100"/>
            <a:ext cx="178955" cy="152400"/>
          </a:xfrm>
          <a:prstGeom prst="rect">
            <a:avLst/>
          </a:prstGeom>
          <a:solidFill>
            <a:srgbClr val="62C8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E7F60EF-3DD2-4536-A495-01B93E55B4AD}"/>
              </a:ext>
            </a:extLst>
          </p:cNvPr>
          <p:cNvSpPr>
            <a:spLocks noGrp="1"/>
          </p:cNvSpPr>
          <p:nvPr/>
        </p:nvSpPr>
        <p:spPr>
          <a:xfrm>
            <a:off x="7067550" y="4181475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2h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B4EE567-CE6C-4460-96AF-AD883C52D1D6}"/>
              </a:ext>
            </a:extLst>
          </p:cNvPr>
          <p:cNvSpPr>
            <a:spLocks noGrp="1"/>
          </p:cNvSpPr>
          <p:nvPr/>
        </p:nvSpPr>
        <p:spPr>
          <a:xfrm>
            <a:off x="7677150" y="4171950"/>
            <a:ext cx="533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-6h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C80B632-A048-40EC-AEE7-BC7F827EDAC1}"/>
              </a:ext>
            </a:extLst>
          </p:cNvPr>
          <p:cNvSpPr>
            <a:spLocks noGrp="1"/>
          </p:cNvSpPr>
          <p:nvPr/>
        </p:nvSpPr>
        <p:spPr>
          <a:xfrm>
            <a:off x="914400" y="47244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合計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8481620-8E72-445A-89CF-7E15121B115B}"/>
              </a:ext>
            </a:extLst>
          </p:cNvPr>
          <p:cNvSpPr>
            <a:spLocks noGrp="1"/>
          </p:cNvSpPr>
          <p:nvPr/>
        </p:nvSpPr>
        <p:spPr>
          <a:xfrm>
            <a:off x="2133600" y="4781550"/>
            <a:ext cx="295275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C50B5A7-DAF3-4F9D-93E2-F0433A8B5DA9}"/>
              </a:ext>
            </a:extLst>
          </p:cNvPr>
          <p:cNvSpPr>
            <a:spLocks noGrp="1"/>
          </p:cNvSpPr>
          <p:nvPr/>
        </p:nvSpPr>
        <p:spPr>
          <a:xfrm>
            <a:off x="2133600" y="4781550"/>
            <a:ext cx="2952750" cy="15240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5541E59-24CF-43D7-8AA6-72C7AC63BF8C}"/>
              </a:ext>
            </a:extLst>
          </p:cNvPr>
          <p:cNvSpPr>
            <a:spLocks noGrp="1"/>
          </p:cNvSpPr>
          <p:nvPr/>
        </p:nvSpPr>
        <p:spPr>
          <a:xfrm>
            <a:off x="5181600" y="47339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33h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EC72F00-6621-4E94-87CB-DAC4B07AA94A}"/>
              </a:ext>
            </a:extLst>
          </p:cNvPr>
          <p:cNvSpPr>
            <a:spLocks noGrp="1"/>
          </p:cNvSpPr>
          <p:nvPr/>
        </p:nvSpPr>
        <p:spPr>
          <a:xfrm>
            <a:off x="5829300" y="4781550"/>
            <a:ext cx="1257300" cy="15240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3505422-E15B-4D43-99D6-CD00FE8CA935}"/>
              </a:ext>
            </a:extLst>
          </p:cNvPr>
          <p:cNvSpPr>
            <a:spLocks noGrp="1"/>
          </p:cNvSpPr>
          <p:nvPr/>
        </p:nvSpPr>
        <p:spPr>
          <a:xfrm>
            <a:off x="5829300" y="4781550"/>
            <a:ext cx="536864" cy="1524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5F8498D-7AC5-4F2F-8175-47BFEA80BD15}"/>
              </a:ext>
            </a:extLst>
          </p:cNvPr>
          <p:cNvSpPr>
            <a:spLocks noGrp="1"/>
          </p:cNvSpPr>
          <p:nvPr/>
        </p:nvSpPr>
        <p:spPr>
          <a:xfrm>
            <a:off x="7067550" y="4733925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6h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8B9DA6A-62F8-465B-92D0-354DB2162B9C}"/>
              </a:ext>
            </a:extLst>
          </p:cNvPr>
          <p:cNvSpPr>
            <a:spLocks noGrp="1"/>
          </p:cNvSpPr>
          <p:nvPr/>
        </p:nvSpPr>
        <p:spPr>
          <a:xfrm>
            <a:off x="7677150" y="4724400"/>
            <a:ext cx="533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11D4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E11D48"/>
                </a:solidFill>
                <a:latin typeface="Yu Gothic"/>
                <a:ea typeface="Yu Gothic"/>
                <a:cs typeface="Yu Gothic"/>
              </a:rPr>
              <a:t>-27h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A70BDDA-C02A-4BE4-9A63-7C7F4BDDE6B3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6210300" cy="1905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8623FDA-1D14-42F6-88A4-41EA49BA89E1}"/>
              </a:ext>
            </a:extLst>
          </p:cNvPr>
          <p:cNvSpPr>
            <a:spLocks noGrp="1"/>
          </p:cNvSpPr>
          <p:nvPr/>
        </p:nvSpPr>
        <p:spPr>
          <a:xfrm>
            <a:off x="8469745" y="2457450"/>
            <a:ext cx="2781300" cy="133350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E8AB8E6-83B8-44C6-9140-58DEF7FDA503}"/>
              </a:ext>
            </a:extLst>
          </p:cNvPr>
          <p:cNvSpPr>
            <a:spLocks noGrp="1"/>
          </p:cNvSpPr>
          <p:nvPr/>
        </p:nvSpPr>
        <p:spPr>
          <a:xfrm>
            <a:off x="8784070" y="2781300"/>
            <a:ext cx="2171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450" b="1">
                <a:solidFill>
                  <a:srgbClr val="FACC15"/>
                </a:solidFill>
                <a:latin typeface="Yu Gothic"/>
                <a:ea typeface="Yu Gothic"/>
                <a:cs typeface="Yu Gothic"/>
              </a:defRPr>
            </a:pPr>
            <a:r>
              <a:rPr sz="3450" b="1" dirty="0">
                <a:solidFill>
                  <a:srgbClr val="FACC15"/>
                </a:solidFill>
                <a:latin typeface="Yu Gothic"/>
                <a:ea typeface="Yu Gothic"/>
                <a:cs typeface="Yu Gothic"/>
              </a:rPr>
              <a:t>324時間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A2AD91F-9904-4762-8E2D-F9608DBF65E1}"/>
              </a:ext>
            </a:extLst>
          </p:cNvPr>
          <p:cNvSpPr>
            <a:spLocks noGrp="1"/>
          </p:cNvSpPr>
          <p:nvPr/>
        </p:nvSpPr>
        <p:spPr>
          <a:xfrm>
            <a:off x="8812645" y="3371850"/>
            <a:ext cx="2114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年間創出時間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2F5D0D7-9B6E-4F94-A99F-F3E70A7A4ADA}"/>
              </a:ext>
            </a:extLst>
          </p:cNvPr>
          <p:cNvSpPr>
            <a:spLocks noGrp="1"/>
          </p:cNvSpPr>
          <p:nvPr/>
        </p:nvSpPr>
        <p:spPr>
          <a:xfrm>
            <a:off x="8469745" y="4095750"/>
            <a:ext cx="2781300" cy="1409700"/>
          </a:xfrm>
          <a:prstGeom prst="rect">
            <a:avLst/>
          </a:prstGeom>
          <a:solidFill>
            <a:srgbClr val="EAF7EF"/>
          </a:solidFill>
          <a:ln w="9525">
            <a:solidFill>
              <a:srgbClr val="BFE6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E1BAA1-2589-482F-B168-2134CA3A810A}"/>
              </a:ext>
            </a:extLst>
          </p:cNvPr>
          <p:cNvSpPr>
            <a:spLocks noGrp="1"/>
          </p:cNvSpPr>
          <p:nvPr/>
        </p:nvSpPr>
        <p:spPr>
          <a:xfrm>
            <a:off x="8660245" y="4438650"/>
            <a:ext cx="2400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16A34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6A34A"/>
                </a:solidFill>
                <a:latin typeface="Yu Gothic"/>
                <a:ea typeface="Yu Gothic"/>
                <a:cs typeface="Yu Gothic"/>
              </a:rPr>
              <a:t>972,000円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739BE3C-2F86-4BA2-80A7-7B2276C49CA0}"/>
              </a:ext>
            </a:extLst>
          </p:cNvPr>
          <p:cNvSpPr>
            <a:spLocks noGrp="1"/>
          </p:cNvSpPr>
          <p:nvPr/>
        </p:nvSpPr>
        <p:spPr>
          <a:xfrm>
            <a:off x="8850745" y="50101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年間コスト削減効果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BF4444A-3DAB-416C-A97F-F2E3EB6ABC8E}"/>
              </a:ext>
            </a:extLst>
          </p:cNvPr>
          <p:cNvSpPr>
            <a:spLocks noGrp="1"/>
          </p:cNvSpPr>
          <p:nvPr/>
        </p:nvSpPr>
        <p:spPr>
          <a:xfrm>
            <a:off x="8469745" y="5791200"/>
            <a:ext cx="2781300" cy="381000"/>
          </a:xfrm>
          <a:prstGeom prst="rect">
            <a:avLst/>
          </a:prstGeom>
          <a:solidFill>
            <a:srgbClr val="FFF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CFD3497-E1AA-4206-9255-CA8B678D1B2F}"/>
              </a:ext>
            </a:extLst>
          </p:cNvPr>
          <p:cNvSpPr>
            <a:spLocks noGrp="1"/>
          </p:cNvSpPr>
          <p:nvPr/>
        </p:nvSpPr>
        <p:spPr>
          <a:xfrm>
            <a:off x="8622145" y="5839746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8A6400"/>
                </a:solidFill>
                <a:latin typeface="Yu Gothic"/>
                <a:ea typeface="Yu Gothic"/>
                <a:cs typeface="Yu Gothic"/>
              </a:defRPr>
            </a:pPr>
            <a:r>
              <a:rPr sz="1050" b="1" dirty="0" err="1">
                <a:solidFill>
                  <a:srgbClr val="8A6400"/>
                </a:solidFill>
                <a:latin typeface="Yu Gothic"/>
                <a:ea typeface="Yu Gothic"/>
                <a:cs typeface="Yu Gothic"/>
              </a:rPr>
              <a:t>削減した時間を</a:t>
            </a:r>
            <a:r>
              <a:rPr sz="1050" b="1" dirty="0">
                <a:solidFill>
                  <a:srgbClr val="8A6400"/>
                </a:solidFill>
                <a:latin typeface="Yu Gothic"/>
                <a:ea typeface="Yu Gothic"/>
                <a:cs typeface="Yu Gothic"/>
              </a:rPr>
              <a:t>、</a:t>
            </a:r>
            <a:endParaRPr lang="en-US" sz="1050" b="1" dirty="0">
              <a:solidFill>
                <a:srgbClr val="8A6400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938" b="1">
                <a:solidFill>
                  <a:srgbClr val="8A6400"/>
                </a:solidFill>
                <a:latin typeface="Yu Gothic"/>
                <a:ea typeface="Yu Gothic"/>
                <a:cs typeface="Yu Gothic"/>
              </a:defRPr>
            </a:pPr>
            <a:r>
              <a:rPr sz="1050" b="1" dirty="0" err="1">
                <a:solidFill>
                  <a:srgbClr val="8A6400"/>
                </a:solidFill>
                <a:latin typeface="Yu Gothic"/>
                <a:ea typeface="Yu Gothic"/>
                <a:cs typeface="Yu Gothic"/>
              </a:rPr>
              <a:t>見積・現場管理・営業判断へ</a:t>
            </a:r>
            <a:endParaRPr sz="1050" b="1" dirty="0">
              <a:solidFill>
                <a:srgbClr val="8A640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027AC30-D942-4FB9-B3CE-0505948C996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97F760E-1344-4902-B094-463769C77F89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65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C5A0CF9-89AA-4747-A2E9-A06AA3BA6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09E37852-43B2-460C-912A-53F286A6878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49D7C638-1545-414C-A394-56AA51E76713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開発パートナー条件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10D7FB-4B6A-4F4E-A2D0-D1456B1305AF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先着5社は、半額で</a:t>
            </a:r>
          </a:p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作り込みに参加できます。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020BE76-063D-4134-9D76-C919B434091C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単なる値引きではなく、御社の業務に合わせて初期機能を磨き込む枠です</a:t>
            </a:r>
            <a:r>
              <a:rPr sz="135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CBC086F-EDB2-4D3C-BFA8-33BCD851F70E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46291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3BB539-CF5A-4517-81AF-19728D63E7C9}"/>
              </a:ext>
            </a:extLst>
          </p:cNvPr>
          <p:cNvSpPr>
            <a:spLocks noGrp="1"/>
          </p:cNvSpPr>
          <p:nvPr/>
        </p:nvSpPr>
        <p:spPr>
          <a:xfrm>
            <a:off x="3038475" y="2889826"/>
            <a:ext cx="648622" cy="22706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00" b="1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通常価格</a:t>
            </a:r>
            <a:endParaRPr sz="1100" b="1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372479-FCE1-4A15-AA70-5E0A2C61D85D}"/>
              </a:ext>
            </a:extLst>
          </p:cNvPr>
          <p:cNvSpPr>
            <a:spLocks noGrp="1"/>
          </p:cNvSpPr>
          <p:nvPr/>
        </p:nvSpPr>
        <p:spPr>
          <a:xfrm>
            <a:off x="3990975" y="2887982"/>
            <a:ext cx="1428750" cy="22706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1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パートナー特別価格</a:t>
            </a:r>
            <a:endParaRPr sz="11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6529BC-0E6A-4EF1-818F-6D8E7DEC0588}"/>
              </a:ext>
            </a:extLst>
          </p:cNvPr>
          <p:cNvSpPr>
            <a:spLocks noGrp="1"/>
          </p:cNvSpPr>
          <p:nvPr/>
        </p:nvSpPr>
        <p:spPr>
          <a:xfrm>
            <a:off x="1066799" y="3162299"/>
            <a:ext cx="4144297" cy="45719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B103A4-0CAE-485D-ADFB-A019FBE23C59}"/>
              </a:ext>
            </a:extLst>
          </p:cNvPr>
          <p:cNvSpPr>
            <a:spLocks noGrp="1"/>
          </p:cNvSpPr>
          <p:nvPr/>
        </p:nvSpPr>
        <p:spPr>
          <a:xfrm>
            <a:off x="1123950" y="34671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初期費用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9CB89C-FE3A-4FD9-AD15-408D4D81CC71}"/>
              </a:ext>
            </a:extLst>
          </p:cNvPr>
          <p:cNvSpPr>
            <a:spLocks noGrp="1"/>
          </p:cNvSpPr>
          <p:nvPr/>
        </p:nvSpPr>
        <p:spPr>
          <a:xfrm>
            <a:off x="2705100" y="34290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1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49,800円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2840FCD-43F5-41E9-B88E-2F570FF5BCA0}"/>
              </a:ext>
            </a:extLst>
          </p:cNvPr>
          <p:cNvSpPr>
            <a:spLocks noGrp="1"/>
          </p:cNvSpPr>
          <p:nvPr/>
        </p:nvSpPr>
        <p:spPr>
          <a:xfrm>
            <a:off x="4000500" y="3352800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0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14,800円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CB68A00-97CF-436C-9D2E-9EF578BC23ED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3790950" cy="9525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6878655-09DF-4278-B573-4B20227E93B0}"/>
              </a:ext>
            </a:extLst>
          </p:cNvPr>
          <p:cNvSpPr>
            <a:spLocks noGrp="1"/>
          </p:cNvSpPr>
          <p:nvPr/>
        </p:nvSpPr>
        <p:spPr>
          <a:xfrm>
            <a:off x="1123950" y="42672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月額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42EB2F9-93C2-4790-9069-24E0BAAE94D7}"/>
              </a:ext>
            </a:extLst>
          </p:cNvPr>
          <p:cNvSpPr>
            <a:spLocks noGrp="1"/>
          </p:cNvSpPr>
          <p:nvPr/>
        </p:nvSpPr>
        <p:spPr>
          <a:xfrm>
            <a:off x="2705100" y="42291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1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29,800円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D0C62BD-5D56-4C3C-99E9-B88B41802A93}"/>
              </a:ext>
            </a:extLst>
          </p:cNvPr>
          <p:cNvSpPr>
            <a:spLocks noGrp="1"/>
          </p:cNvSpPr>
          <p:nvPr/>
        </p:nvSpPr>
        <p:spPr>
          <a:xfrm>
            <a:off x="4000500" y="4152900"/>
            <a:ext cx="1066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025" b="1">
                <a:solidFill>
                  <a:srgbClr val="16A34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6A34A"/>
                </a:solidFill>
                <a:latin typeface="Yu Gothic"/>
                <a:ea typeface="Yu Gothic"/>
                <a:cs typeface="Yu Gothic"/>
              </a:rPr>
              <a:t>14,800円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B842E7E-7DEB-4360-864C-85F5680F72ED}"/>
              </a:ext>
            </a:extLst>
          </p:cNvPr>
          <p:cNvSpPr>
            <a:spLocks noGrp="1"/>
          </p:cNvSpPr>
          <p:nvPr/>
        </p:nvSpPr>
        <p:spPr>
          <a:xfrm>
            <a:off x="1066800" y="4705350"/>
            <a:ext cx="3790950" cy="323850"/>
          </a:xfrm>
          <a:prstGeom prst="rect">
            <a:avLst/>
          </a:prstGeom>
          <a:solidFill>
            <a:srgbClr val="FFF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F1418FB-128A-49A0-8150-8DD3F4FE145C}"/>
              </a:ext>
            </a:extLst>
          </p:cNvPr>
          <p:cNvSpPr>
            <a:spLocks noGrp="1"/>
          </p:cNvSpPr>
          <p:nvPr/>
        </p:nvSpPr>
        <p:spPr>
          <a:xfrm>
            <a:off x="1219200" y="4781550"/>
            <a:ext cx="3486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8A6400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8A6400"/>
                </a:solidFill>
                <a:latin typeface="Yu Gothic"/>
                <a:ea typeface="Yu Gothic"/>
                <a:cs typeface="Yu Gothic"/>
              </a:rPr>
              <a:t>この価格は今後ずっと永続適用</a:t>
            </a:r>
            <a:endParaRPr sz="1400" b="1" dirty="0">
              <a:solidFill>
                <a:srgbClr val="8A640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FD232CF-7113-422C-9DDB-19DD7F6F832D}"/>
              </a:ext>
            </a:extLst>
          </p:cNvPr>
          <p:cNvSpPr>
            <a:spLocks noGrp="1"/>
          </p:cNvSpPr>
          <p:nvPr/>
        </p:nvSpPr>
        <p:spPr>
          <a:xfrm>
            <a:off x="5924550" y="2552700"/>
            <a:ext cx="4876800" cy="262890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0A96BE0-1D0A-464A-A82F-A48230D3F683}"/>
              </a:ext>
            </a:extLst>
          </p:cNvPr>
          <p:cNvSpPr>
            <a:spLocks noGrp="1"/>
          </p:cNvSpPr>
          <p:nvPr/>
        </p:nvSpPr>
        <p:spPr>
          <a:xfrm>
            <a:off x="6362700" y="28384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参加メリット</a:t>
            </a:r>
          </a:p>
        </p:txBody>
      </p:sp>
      <p:pic>
        <p:nvPicPr>
          <p:cNvPr id="23" name="グラフィックス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62700" y="3371850"/>
            <a:ext cx="228600" cy="228600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00298F3-C334-4BF5-B275-28E89EF5E1AF}"/>
              </a:ext>
            </a:extLst>
          </p:cNvPr>
          <p:cNvSpPr>
            <a:spLocks noGrp="1"/>
          </p:cNvSpPr>
          <p:nvPr/>
        </p:nvSpPr>
        <p:spPr>
          <a:xfrm>
            <a:off x="6724650" y="3381375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御社の要望を優先的に機能開発へ反映</a:t>
            </a:r>
          </a:p>
        </p:txBody>
      </p:sp>
      <p:pic>
        <p:nvPicPr>
          <p:cNvPr id="25" name="グラフィックス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62700" y="3790950"/>
            <a:ext cx="228600" cy="228600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D58EA24-2619-4F3E-9AD9-C2CA8BD3AA55}"/>
              </a:ext>
            </a:extLst>
          </p:cNvPr>
          <p:cNvSpPr>
            <a:spLocks noGrp="1"/>
          </p:cNvSpPr>
          <p:nvPr/>
        </p:nvSpPr>
        <p:spPr>
          <a:xfrm>
            <a:off x="6724650" y="3800475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新機能をリリース前に先行利用</a:t>
            </a:r>
          </a:p>
        </p:txBody>
      </p:sp>
      <p:pic>
        <p:nvPicPr>
          <p:cNvPr id="27" name="グラフィックス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62700" y="4210050"/>
            <a:ext cx="228600" cy="228600"/>
          </a:xfrm>
          <a:prstGeom prst="rect">
            <a:avLst/>
          </a:prstGeom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7D4E9F0-3039-472E-8CC1-8EB7553277B9}"/>
              </a:ext>
            </a:extLst>
          </p:cNvPr>
          <p:cNvSpPr>
            <a:spLocks noGrp="1"/>
          </p:cNvSpPr>
          <p:nvPr/>
        </p:nvSpPr>
        <p:spPr>
          <a:xfrm>
            <a:off x="6724650" y="4219575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成功事例として御社PRを支援</a:t>
            </a:r>
          </a:p>
        </p:txBody>
      </p:sp>
      <p:pic>
        <p:nvPicPr>
          <p:cNvPr id="29" name="グラフィックス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62700" y="4629150"/>
            <a:ext cx="228600" cy="228600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14D6C1F-9C24-4679-92FF-9E0D42B0124E}"/>
              </a:ext>
            </a:extLst>
          </p:cNvPr>
          <p:cNvSpPr>
            <a:spLocks noGrp="1"/>
          </p:cNvSpPr>
          <p:nvPr/>
        </p:nvSpPr>
        <p:spPr>
          <a:xfrm>
            <a:off x="6724650" y="4638675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現場に合わせた運用設計を一緒に作る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93F2279-BA0C-4FE3-9B85-C29F44906F8D}"/>
              </a:ext>
            </a:extLst>
          </p:cNvPr>
          <p:cNvSpPr>
            <a:spLocks noGrp="1"/>
          </p:cNvSpPr>
          <p:nvPr/>
        </p:nvSpPr>
        <p:spPr>
          <a:xfrm>
            <a:off x="723900" y="5676900"/>
            <a:ext cx="10077450" cy="51435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F726E3A-975D-4AC6-B26E-A7253C44BBB0}"/>
              </a:ext>
            </a:extLst>
          </p:cNvPr>
          <p:cNvSpPr>
            <a:spLocks noGrp="1"/>
          </p:cNvSpPr>
          <p:nvPr/>
        </p:nvSpPr>
        <p:spPr>
          <a:xfrm>
            <a:off x="1028700" y="5819775"/>
            <a:ext cx="9467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いま参加する価値</a:t>
            </a:r>
            <a:r>
              <a:rPr sz="20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= </a:t>
            </a:r>
            <a:r>
              <a:rPr sz="20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低コスト</a:t>
            </a:r>
            <a:r>
              <a:rPr sz="20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+ </a:t>
            </a:r>
            <a:r>
              <a:rPr sz="20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要望反映</a:t>
            </a:r>
            <a:r>
              <a:rPr sz="20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+ </a:t>
            </a:r>
            <a:r>
              <a:rPr sz="20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先行利用</a:t>
            </a:r>
            <a:r>
              <a:rPr sz="20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+ </a:t>
            </a:r>
            <a:r>
              <a:rPr sz="20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事例化</a:t>
            </a:r>
            <a:endParaRPr sz="2000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D23F104-15E3-471B-BBF1-8CF06D7BE84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86936E0-6513-4BA5-9861-FD9135809B88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FC8E55A2-F3C3-DB3A-2BD6-6EFAE047178A}"/>
              </a:ext>
            </a:extLst>
          </p:cNvPr>
          <p:cNvCxnSpPr/>
          <p:nvPr/>
        </p:nvCxnSpPr>
        <p:spPr>
          <a:xfrm>
            <a:off x="2904203" y="3541765"/>
            <a:ext cx="9057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DD81004-0067-603C-41EC-9600B95AC345}"/>
              </a:ext>
            </a:extLst>
          </p:cNvPr>
          <p:cNvCxnSpPr/>
          <p:nvPr/>
        </p:nvCxnSpPr>
        <p:spPr>
          <a:xfrm>
            <a:off x="2904203" y="4323429"/>
            <a:ext cx="9057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43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15F2959-94EB-4FCD-A0D9-AF6A5CC4D5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48725727-0A7D-4D19-A477-FAF0F74E8B0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F952C10E-180D-4FEA-AD19-BC995354486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信頼と拡張性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94E5EF-9583-48C1-8562-EA095832E65F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620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現場からバックオフィスまで</a:t>
            </a: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、</a:t>
            </a:r>
          </a:p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長く支える設計です</a:t>
            </a: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52F7D7-C75D-47E4-82A3-A61FDF6EB0B8}"/>
              </a:ext>
            </a:extLst>
          </p:cNvPr>
          <p:cNvSpPr>
            <a:spLocks noGrp="1"/>
          </p:cNvSpPr>
          <p:nvPr/>
        </p:nvSpPr>
        <p:spPr>
          <a:xfrm>
            <a:off x="628649" y="1809750"/>
            <a:ext cx="9469079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単発ツールではなく、工務店の業務フロー全体を少しずつ軽くしていくパートナーとして伴走します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981146-D152-417A-A30C-126712C4D609}"/>
              </a:ext>
            </a:extLst>
          </p:cNvPr>
          <p:cNvSpPr>
            <a:spLocks noGrp="1"/>
          </p:cNvSpPr>
          <p:nvPr/>
        </p:nvSpPr>
        <p:spPr>
          <a:xfrm>
            <a:off x="1066800" y="3314700"/>
            <a:ext cx="8839200" cy="3810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9AA9C1A-5E64-4A0B-9DF0-242E749C52E4}"/>
              </a:ext>
            </a:extLst>
          </p:cNvPr>
          <p:cNvSpPr>
            <a:spLocks noGrp="1"/>
          </p:cNvSpPr>
          <p:nvPr/>
        </p:nvSpPr>
        <p:spPr>
          <a:xfrm>
            <a:off x="1314450" y="3038475"/>
            <a:ext cx="590550" cy="590550"/>
          </a:xfrm>
          <a:prstGeom prst="ellipse">
            <a:avLst/>
          </a:prstGeom>
          <a:solidFill>
            <a:srgbClr val="E7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グラフィックス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76375" y="3200400"/>
            <a:ext cx="266700" cy="2667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29504E2-2ED7-4CDD-9C1C-42222D46A9DD}"/>
              </a:ext>
            </a:extLst>
          </p:cNvPr>
          <p:cNvSpPr>
            <a:spLocks noGrp="1"/>
          </p:cNvSpPr>
          <p:nvPr/>
        </p:nvSpPr>
        <p:spPr>
          <a:xfrm>
            <a:off x="1143000" y="38290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7月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655488-493B-4ACC-916F-8A432A31F472}"/>
              </a:ext>
            </a:extLst>
          </p:cNvPr>
          <p:cNvSpPr>
            <a:spLocks noGrp="1"/>
          </p:cNvSpPr>
          <p:nvPr/>
        </p:nvSpPr>
        <p:spPr>
          <a:xfrm>
            <a:off x="647700" y="411480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法人化予定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5CF0707-41A8-4066-96B8-394A7485DA4B}"/>
              </a:ext>
            </a:extLst>
          </p:cNvPr>
          <p:cNvSpPr>
            <a:spLocks noGrp="1"/>
          </p:cNvSpPr>
          <p:nvPr/>
        </p:nvSpPr>
        <p:spPr>
          <a:xfrm>
            <a:off x="381000" y="4552950"/>
            <a:ext cx="2457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Shu Works株式会社として</a:t>
            </a: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責任と継続性を明確化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825F592-68D4-490B-A48B-EA80693CF039}"/>
              </a:ext>
            </a:extLst>
          </p:cNvPr>
          <p:cNvSpPr>
            <a:spLocks noGrp="1"/>
          </p:cNvSpPr>
          <p:nvPr/>
        </p:nvSpPr>
        <p:spPr>
          <a:xfrm>
            <a:off x="4476750" y="3038475"/>
            <a:ext cx="590550" cy="590550"/>
          </a:xfrm>
          <a:prstGeom prst="ellipse">
            <a:avLst/>
          </a:prstGeom>
          <a:solidFill>
            <a:srgbClr val="EA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グラフィックス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38675" y="3200400"/>
            <a:ext cx="266700" cy="26670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418D76B-D69A-4A21-87F0-1E85F5E3597D}"/>
              </a:ext>
            </a:extLst>
          </p:cNvPr>
          <p:cNvSpPr>
            <a:spLocks noGrp="1"/>
          </p:cNvSpPr>
          <p:nvPr/>
        </p:nvSpPr>
        <p:spPr>
          <a:xfrm>
            <a:off x="4305300" y="38290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導入期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137360-3D63-4550-9F6E-0B8C47DC3076}"/>
              </a:ext>
            </a:extLst>
          </p:cNvPr>
          <p:cNvSpPr>
            <a:spLocks noGrp="1"/>
          </p:cNvSpPr>
          <p:nvPr/>
        </p:nvSpPr>
        <p:spPr>
          <a:xfrm>
            <a:off x="3810000" y="411480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現場AIを定着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478CD92-D541-45C1-A983-40EBAFC423F5}"/>
              </a:ext>
            </a:extLst>
          </p:cNvPr>
          <p:cNvSpPr>
            <a:spLocks noGrp="1"/>
          </p:cNvSpPr>
          <p:nvPr/>
        </p:nvSpPr>
        <p:spPr>
          <a:xfrm>
            <a:off x="3543300" y="4552950"/>
            <a:ext cx="2457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見積検索・日報・議事録を</a:t>
            </a: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LINE運用にのせる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71C02DB6-457F-41CE-8FD9-FFDBFF598112}"/>
              </a:ext>
            </a:extLst>
          </p:cNvPr>
          <p:cNvSpPr>
            <a:spLocks noGrp="1"/>
          </p:cNvSpPr>
          <p:nvPr/>
        </p:nvSpPr>
        <p:spPr>
          <a:xfrm>
            <a:off x="7639050" y="3038475"/>
            <a:ext cx="590550" cy="590550"/>
          </a:xfrm>
          <a:prstGeom prst="ellipse">
            <a:avLst/>
          </a:prstGeom>
          <a:solidFill>
            <a:srgbClr val="FFF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グラフィックス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800975" y="3200400"/>
            <a:ext cx="266700" cy="266700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B2C68F1-3773-41BA-B8F8-64F409686AAF}"/>
              </a:ext>
            </a:extLst>
          </p:cNvPr>
          <p:cNvSpPr>
            <a:spLocks noGrp="1"/>
          </p:cNvSpPr>
          <p:nvPr/>
        </p:nvSpPr>
        <p:spPr>
          <a:xfrm>
            <a:off x="7467600" y="382905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7790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77900"/>
                </a:solidFill>
                <a:latin typeface="Yu Gothic"/>
                <a:ea typeface="Yu Gothic"/>
                <a:cs typeface="Yu Gothic"/>
              </a:rPr>
              <a:t>次の展開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342A4D9-21E6-4989-88C3-585C97FFCB12}"/>
              </a:ext>
            </a:extLst>
          </p:cNvPr>
          <p:cNvSpPr>
            <a:spLocks noGrp="1"/>
          </p:cNvSpPr>
          <p:nvPr/>
        </p:nvSpPr>
        <p:spPr>
          <a:xfrm>
            <a:off x="6972300" y="411480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BackOffice版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76056F7-5EF3-403A-9FF6-FFC91ACE2658}"/>
              </a:ext>
            </a:extLst>
          </p:cNvPr>
          <p:cNvSpPr>
            <a:spLocks noGrp="1"/>
          </p:cNvSpPr>
          <p:nvPr/>
        </p:nvSpPr>
        <p:spPr>
          <a:xfrm>
            <a:off x="6705600" y="4552950"/>
            <a:ext cx="2457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経理・人事・総務の事務も</a:t>
            </a: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LINEとAIで自動化へ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80B4FB0-C0B1-486A-977C-A3E0BF3EF2A5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9848850" cy="55245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8266DAF-74D4-4B72-83C6-9925225E6C51}"/>
              </a:ext>
            </a:extLst>
          </p:cNvPr>
          <p:cNvSpPr>
            <a:spLocks noGrp="1"/>
          </p:cNvSpPr>
          <p:nvPr/>
        </p:nvSpPr>
        <p:spPr>
          <a:xfrm>
            <a:off x="1143000" y="5772150"/>
            <a:ext cx="920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00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元・行政のプロフェッショナルSEが、現場と事務の両面から生産性を高めます</a:t>
            </a:r>
            <a:r>
              <a:rPr sz="16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FD3EC65-B752-459E-99AA-03979CDA0C6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E7836B3-C7EE-48A9-8703-F13DE6648C06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2012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BA00FFF-21AD-41EE-AFD6-91168638FD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7B198E60-5A77-4A16-9309-F28559B124D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6200" cy="228600"/>
          </a:xfrm>
          <a:prstGeom prst="rect">
            <a:avLst/>
          </a:prstGeom>
          <a:solidFill>
            <a:srgbClr val="0A6CFF"/>
          </a:solidFill>
          <a:ln w="0">
            <a:solidFill>
              <a:srgbClr val="0A6C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2164F924-0E78-469E-B7F1-53E2A9DAF322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次のステップ</a:t>
            </a:r>
            <a:endParaRPr sz="1200" b="1" dirty="0">
              <a:solidFill>
                <a:srgbClr val="0A6C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7E102EC-24E8-414A-A6F2-679638ACAD15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8382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30分で、御社の情報ボトルネックを</a:t>
            </a:r>
          </a:p>
          <a:p>
            <a:pPr algn="l">
              <a:lnSpc>
                <a:spcPct val="95000"/>
              </a:lnSpc>
              <a:buNone/>
              <a:defRPr sz="28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3200" b="1" dirty="0" err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診断します</a:t>
            </a:r>
            <a:r>
              <a:rPr sz="3200" b="1" dirty="0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2ADCC8-80F9-48B2-A399-EA4BB8029DE5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819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6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まずは無料オンライン相談で、どの業務から始めると最も効果が出るかを確認します</a:t>
            </a:r>
            <a:r>
              <a:rPr sz="16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90278EC-8B5B-455D-954B-00E9C39C102F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28956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3679EC-8B29-4859-B870-F197101B849E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2895600" cy="7620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8C013B-71DF-4F97-9292-A4563A40F892}"/>
              </a:ext>
            </a:extLst>
          </p:cNvPr>
          <p:cNvSpPr>
            <a:spLocks noGrp="1"/>
          </p:cNvSpPr>
          <p:nvPr/>
        </p:nvSpPr>
        <p:spPr>
          <a:xfrm>
            <a:off x="1009650" y="3067050"/>
            <a:ext cx="514350" cy="51435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47625" rIns="0" bIns="0" anchor="ctr"/>
          <a:lstStyle/>
          <a:p>
            <a:pPr algn="ctr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EEBE0-DD73-4E0D-9398-E2E160B500AE}"/>
              </a:ext>
            </a:extLst>
          </p:cNvPr>
          <p:cNvSpPr>
            <a:spLocks noGrp="1"/>
          </p:cNvSpPr>
          <p:nvPr/>
        </p:nvSpPr>
        <p:spPr>
          <a:xfrm>
            <a:off x="1733550" y="3048000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興味ありと返信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153C886-08AF-4B3A-AADE-E0F2ACE75B50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本メールに返信、またはLINEからお問い合わせください。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1B890F7-4511-4083-BAB1-B5B5EB76B851}"/>
              </a:ext>
            </a:extLst>
          </p:cNvPr>
          <p:cNvSpPr>
            <a:spLocks noGrp="1"/>
          </p:cNvSpPr>
          <p:nvPr/>
        </p:nvSpPr>
        <p:spPr>
          <a:xfrm>
            <a:off x="4114800" y="2686050"/>
            <a:ext cx="28956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AEC7E73-FF8A-48EF-9FFD-171C0A960B92}"/>
              </a:ext>
            </a:extLst>
          </p:cNvPr>
          <p:cNvSpPr>
            <a:spLocks noGrp="1"/>
          </p:cNvSpPr>
          <p:nvPr/>
        </p:nvSpPr>
        <p:spPr>
          <a:xfrm>
            <a:off x="4114800" y="2686050"/>
            <a:ext cx="2895600" cy="762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F31F377-85DB-4B78-AEBB-1847E0CA3F80}"/>
              </a:ext>
            </a:extLst>
          </p:cNvPr>
          <p:cNvSpPr>
            <a:spLocks noGrp="1"/>
          </p:cNvSpPr>
          <p:nvPr/>
        </p:nvSpPr>
        <p:spPr>
          <a:xfrm>
            <a:off x="4381500" y="3067050"/>
            <a:ext cx="514350" cy="5143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47625" rIns="0" bIns="0" anchor="ctr"/>
          <a:lstStyle/>
          <a:p>
            <a:pPr algn="ctr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AE88F50-380E-44F1-942E-14EAEE3C2132}"/>
              </a:ext>
            </a:extLst>
          </p:cNvPr>
          <p:cNvSpPr>
            <a:spLocks noGrp="1"/>
          </p:cNvSpPr>
          <p:nvPr/>
        </p:nvSpPr>
        <p:spPr>
          <a:xfrm>
            <a:off x="5105400" y="3048000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30分オンライン相談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CFE867-22B7-4771-A505-B79941BC9498}"/>
              </a:ext>
            </a:extLst>
          </p:cNvPr>
          <p:cNvSpPr>
            <a:spLocks noGrp="1"/>
          </p:cNvSpPr>
          <p:nvPr/>
        </p:nvSpPr>
        <p:spPr>
          <a:xfrm>
            <a:off x="4419600" y="3790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見積・日報・議事録の現状を一緒に確認します。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7EF69A-B875-457F-A111-8DC5FCBD26C7}"/>
              </a:ext>
            </a:extLst>
          </p:cNvPr>
          <p:cNvSpPr>
            <a:spLocks noGrp="1"/>
          </p:cNvSpPr>
          <p:nvPr/>
        </p:nvSpPr>
        <p:spPr>
          <a:xfrm>
            <a:off x="7486650" y="2686050"/>
            <a:ext cx="28956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531543-7706-434E-8D86-3951FBB9465D}"/>
              </a:ext>
            </a:extLst>
          </p:cNvPr>
          <p:cNvSpPr>
            <a:spLocks noGrp="1"/>
          </p:cNvSpPr>
          <p:nvPr/>
        </p:nvSpPr>
        <p:spPr>
          <a:xfrm>
            <a:off x="7486650" y="2686050"/>
            <a:ext cx="2895600" cy="76200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9F151D7-937C-436D-94F1-51DA4609A71C}"/>
              </a:ext>
            </a:extLst>
          </p:cNvPr>
          <p:cNvSpPr>
            <a:spLocks noGrp="1"/>
          </p:cNvSpPr>
          <p:nvPr/>
        </p:nvSpPr>
        <p:spPr>
          <a:xfrm>
            <a:off x="7753350" y="3067050"/>
            <a:ext cx="514350" cy="514350"/>
          </a:xfrm>
          <a:prstGeom prst="rect">
            <a:avLst/>
          </a:prstGeom>
          <a:solidFill>
            <a:srgbClr val="B77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47625" rIns="0" bIns="0" anchor="ctr"/>
          <a:lstStyle/>
          <a:p>
            <a:pPr algn="ctr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E53C7C3-D76F-45DA-A34B-0910ACD4CEDD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導入候補を決定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21643E4-892C-470D-A76F-AFC39D80EE68}"/>
              </a:ext>
            </a:extLst>
          </p:cNvPr>
          <p:cNvSpPr>
            <a:spLocks noGrp="1"/>
          </p:cNvSpPr>
          <p:nvPr/>
        </p:nvSpPr>
        <p:spPr>
          <a:xfrm>
            <a:off x="7791450" y="3790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先着5社の開発パートナー枠に</a:t>
            </a:r>
            <a:endParaRPr lang="en-US" sz="1200" b="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進めるか判断します</a:t>
            </a:r>
            <a:r>
              <a:rPr sz="1200" b="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DB990B9-79AF-4FE0-AFF4-8C235D73F191}"/>
              </a:ext>
            </a:extLst>
          </p:cNvPr>
          <p:cNvSpPr>
            <a:spLocks noGrp="1"/>
          </p:cNvSpPr>
          <p:nvPr/>
        </p:nvSpPr>
        <p:spPr>
          <a:xfrm>
            <a:off x="1314450" y="5143500"/>
            <a:ext cx="8858250" cy="85725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pic>
        <p:nvPicPr>
          <p:cNvPr id="22" name="グラフィックス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476500" y="5311570"/>
            <a:ext cx="285750" cy="285750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75F4A4E-D829-42F5-B542-A61FEC8D5114}"/>
              </a:ext>
            </a:extLst>
          </p:cNvPr>
          <p:cNvSpPr>
            <a:spLocks noGrp="1"/>
          </p:cNvSpPr>
          <p:nvPr/>
        </p:nvSpPr>
        <p:spPr>
          <a:xfrm>
            <a:off x="2876550" y="528299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LINE ID: [</a:t>
            </a:r>
            <a:r>
              <a:rPr sz="157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your_line_id</a:t>
            </a:r>
            <a:r>
              <a:rPr sz="157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]</a:t>
            </a:r>
          </a:p>
        </p:txBody>
      </p:sp>
      <p:pic>
        <p:nvPicPr>
          <p:cNvPr id="24" name="グラフィックス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038850" y="5311570"/>
            <a:ext cx="285750" cy="285750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EEA3D69-1171-4BB2-8E43-74EE4AC1D584}"/>
              </a:ext>
            </a:extLst>
          </p:cNvPr>
          <p:cNvSpPr>
            <a:spLocks noGrp="1"/>
          </p:cNvSpPr>
          <p:nvPr/>
        </p:nvSpPr>
        <p:spPr>
          <a:xfrm>
            <a:off x="6438900" y="528299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https://shu-works.co.jp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7F1D433-7F10-4A33-A89D-5C1237668ECF}"/>
              </a:ext>
            </a:extLst>
          </p:cNvPr>
          <p:cNvSpPr>
            <a:spLocks noGrp="1"/>
          </p:cNvSpPr>
          <p:nvPr/>
        </p:nvSpPr>
        <p:spPr>
          <a:xfrm>
            <a:off x="1981200" y="5700712"/>
            <a:ext cx="676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B9C7D9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 err="1">
                <a:solidFill>
                  <a:srgbClr val="B9C7D9"/>
                </a:solidFill>
                <a:latin typeface="Yu Gothic"/>
                <a:ea typeface="Yu Gothic"/>
                <a:cs typeface="Yu Gothic"/>
              </a:rPr>
              <a:t>御社の「情報のボトルネック」を診断します</a:t>
            </a:r>
            <a:endParaRPr sz="1200" b="0" dirty="0">
              <a:solidFill>
                <a:srgbClr val="B9C7D9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2C033CB-9497-4059-B6B7-95B52D268CF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8CA0B3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5F93A7F-0EBF-4C1B-9CC2-07FA4831B988}"/>
              </a:ext>
            </a:extLst>
          </p:cNvPr>
          <p:cNvSpPr>
            <a:spLocks noGrp="1"/>
          </p:cNvSpPr>
          <p:nvPr/>
        </p:nvSpPr>
        <p:spPr>
          <a:xfrm>
            <a:off x="11277600" y="64008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A6CF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6441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E56432D-8CCE-451B-926F-4F8ECAD0C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09D5945-ADDB-4DFC-8C8B-005C2DE6A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1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72D4CBF-6E32-45C0-A840-CF163ACC10DA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57150"/>
          </a:xfrm>
          <a:prstGeom prst="rect">
            <a:avLst/>
          </a:prstGeom>
          <a:solidFill>
            <a:srgbClr val="0A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kicker-09-marker">
            <a:extLst>
              <a:ext uri="{FF2B5EF4-FFF2-40B4-BE49-F238E27FC236}">
                <a16:creationId xmlns:a16="http://schemas.microsoft.com/office/drawing/2014/main" id="{19760362-74CB-413A-BBE2-E4529EEE4BE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76200" cy="228600"/>
          </a:xfrm>
          <a:prstGeom prst="rect">
            <a:avLst/>
          </a:prstGeom>
          <a:solidFill>
            <a:srgbClr val="FACC15"/>
          </a:solidFill>
          <a:ln w="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kicker-09-label">
            <a:extLst>
              <a:ext uri="{FF2B5EF4-FFF2-40B4-BE49-F238E27FC236}">
                <a16:creationId xmlns:a16="http://schemas.microsoft.com/office/drawing/2014/main" id="{13E7212B-0597-4549-B847-5944E1FF57D5}"/>
              </a:ext>
            </a:extLst>
          </p:cNvPr>
          <p:cNvSpPr>
            <a:spLocks noGrp="1"/>
          </p:cNvSpPr>
          <p:nvPr/>
        </p:nvSpPr>
        <p:spPr>
          <a:xfrm>
            <a:off x="800100" y="45720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CFE2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CFE2FF"/>
                </a:solidFill>
                <a:latin typeface="Yu Gothic"/>
                <a:ea typeface="Yu Gothic"/>
                <a:cs typeface="Yu Gothic"/>
              </a:rPr>
              <a:t>最後に</a:t>
            </a:r>
            <a:endParaRPr sz="1200" b="1" dirty="0">
              <a:solidFill>
                <a:srgbClr val="CFE2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F3F5ED5-1744-46D6-84E8-C46D3DD8EE0D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68580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36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67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現場がサクサク動けば</a:t>
            </a:r>
            <a:r>
              <a:rPr sz="367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、</a:t>
            </a:r>
          </a:p>
          <a:p>
            <a:pPr algn="l">
              <a:lnSpc>
                <a:spcPct val="96000"/>
              </a:lnSpc>
              <a:buNone/>
              <a:defRPr sz="36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67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社長は利益づくりに戻れます</a:t>
            </a:r>
            <a:r>
              <a:rPr sz="367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53F81E8-66CA-4364-9FA2-6601571A3A7C}"/>
              </a:ext>
            </a:extLst>
          </p:cNvPr>
          <p:cNvSpPr>
            <a:spLocks noGrp="1"/>
          </p:cNvSpPr>
          <p:nvPr/>
        </p:nvSpPr>
        <p:spPr>
          <a:xfrm>
            <a:off x="647700" y="3505200"/>
            <a:ext cx="6191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御社の現場が、もっとサクサク動き、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D8E4F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8E4F2"/>
                </a:solidFill>
                <a:latin typeface="Yu Gothic"/>
                <a:ea typeface="Yu Gothic"/>
                <a:cs typeface="Yu Gothic"/>
              </a:rPr>
              <a:t>利益に貢献するお手伝いをさせてください。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935851D-77C1-4936-B494-F451722C132B}"/>
              </a:ext>
            </a:extLst>
          </p:cNvPr>
          <p:cNvSpPr>
            <a:spLocks noGrp="1"/>
          </p:cNvSpPr>
          <p:nvPr/>
        </p:nvSpPr>
        <p:spPr>
          <a:xfrm>
            <a:off x="647700" y="4629150"/>
            <a:ext cx="4953000" cy="19050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938AE0-4618-4DCE-8606-DEB02C807151}"/>
              </a:ext>
            </a:extLst>
          </p:cNvPr>
          <p:cNvSpPr>
            <a:spLocks noGrp="1"/>
          </p:cNvSpPr>
          <p:nvPr/>
        </p:nvSpPr>
        <p:spPr>
          <a:xfrm>
            <a:off x="647700" y="4876800"/>
            <a:ext cx="495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0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Shu Works </a:t>
            </a:r>
            <a:r>
              <a:rPr sz="1350" b="0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代表</a:t>
            </a:r>
            <a:r>
              <a:rPr lang="ja-JP" altLang="en-US" sz="1350" b="0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水野 秀彦</a:t>
            </a:r>
            <a:endParaRPr sz="1350" b="0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0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7月中に法人予定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B1B7A70-77C4-42D6-B143-603DBF500C2D}"/>
              </a:ext>
            </a:extLst>
          </p:cNvPr>
          <p:cNvSpPr>
            <a:spLocks noGrp="1"/>
          </p:cNvSpPr>
          <p:nvPr/>
        </p:nvSpPr>
        <p:spPr>
          <a:xfrm>
            <a:off x="647700" y="5676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ACC1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ACC15"/>
                </a:solidFill>
                <a:latin typeface="Yu Gothic"/>
                <a:ea typeface="Yu Gothic"/>
                <a:cs typeface="Yu Gothic"/>
              </a:rPr>
              <a:t>https://shu-works.co.jp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64A44E5-B700-41A4-825B-B3FFCC165DFA}"/>
              </a:ext>
            </a:extLst>
          </p:cNvPr>
          <p:cNvSpPr>
            <a:spLocks noGrp="1"/>
          </p:cNvSpPr>
          <p:nvPr/>
        </p:nvSpPr>
        <p:spPr>
          <a:xfrm>
            <a:off x="7886700" y="1619250"/>
            <a:ext cx="2762250" cy="2762250"/>
          </a:xfrm>
          <a:prstGeom prst="rect">
            <a:avLst/>
          </a:prstGeom>
          <a:solidFill>
            <a:srgbClr val="123154"/>
          </a:solidFill>
          <a:ln w="9525">
            <a:solidFill>
              <a:srgbClr val="29527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77200" y="1809750"/>
            <a:ext cx="2381250" cy="23812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A6E71A4-5A24-4F36-809B-A72661C43AE2}"/>
              </a:ext>
            </a:extLst>
          </p:cNvPr>
          <p:cNvSpPr>
            <a:spLocks noGrp="1"/>
          </p:cNvSpPr>
          <p:nvPr/>
        </p:nvSpPr>
        <p:spPr>
          <a:xfrm>
            <a:off x="7886700" y="4762500"/>
            <a:ext cx="2762250" cy="438150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0" anchor="t"/>
          <a:lstStyle/>
          <a:p>
            <a:pPr algn="ctr">
              <a:defRPr sz="1875" b="1">
                <a:solidFill>
                  <a:srgbClr val="0B1F3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B1F3A"/>
                </a:solidFill>
                <a:latin typeface="Yu Gothic"/>
                <a:ea typeface="Yu Gothic"/>
                <a:cs typeface="Yu Gothic"/>
              </a:rPr>
              <a:t>30分無料相談へ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5443A1E-71A0-440C-B6A3-BF37DD601656}"/>
              </a:ext>
            </a:extLst>
          </p:cNvPr>
          <p:cNvSpPr>
            <a:spLocks noGrp="1"/>
          </p:cNvSpPr>
          <p:nvPr/>
        </p:nvSpPr>
        <p:spPr>
          <a:xfrm>
            <a:off x="8172450" y="61912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B9C7D9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B9C7D9"/>
                </a:solidFill>
                <a:latin typeface="Yu Gothic"/>
                <a:ea typeface="Yu Gothic"/>
                <a:cs typeface="Yu Gothic"/>
              </a:rPr>
              <a:t>AI自動化システム『サク索くん』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EFCB69C-ACF2-4BBC-920E-1C6C83E68088}"/>
              </a:ext>
            </a:extLst>
          </p:cNvPr>
          <p:cNvSpPr>
            <a:spLocks noGrp="1"/>
          </p:cNvSpPr>
          <p:nvPr/>
        </p:nvSpPr>
        <p:spPr>
          <a:xfrm>
            <a:off x="11277600" y="61722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15851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DocSecurity>0</DocSecurity>
  <PresentationFormat>ワイド画面</PresentationFormat>
  <Paragraphs>177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Yu Gothic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秀彦 水野</cp:lastModifiedBy>
  <cp:revision>1</cp:revision>
  <dcterms:created xsi:type="dcterms:W3CDTF">2026-05-30T01:33:06Z</dcterms:created>
  <dcterms:modified xsi:type="dcterms:W3CDTF">2026-05-30T02:37:18Z</dcterms:modified>
</cp:coreProperties>
</file>